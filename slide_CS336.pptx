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8288000" cy="10287000"/>
  <p:notesSz cx="6858000" cy="9144000"/>
  <p:embeddedFontLst>
    <p:embeddedFont>
      <p:font typeface="DM Sans" pitchFamily="2" charset="0"/>
      <p:regular r:id="rId13"/>
      <p:bold r:id="rId14"/>
    </p:embeddedFont>
    <p:embeddedFont>
      <p:font typeface="DM Sans Bold" charset="0"/>
      <p:regular r:id="rId15"/>
    </p:embeddedFont>
    <p:embeddedFont>
      <p:font typeface="Public Sans" panose="020B0604020202020204" charset="0"/>
      <p:regular r:id="rId16"/>
    </p:embeddedFont>
    <p:embeddedFont>
      <p:font typeface="Public Sans Bold" panose="020B0604020202020204" charset="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2" d="100"/>
          <a:sy n="52" d="100"/>
        </p:scale>
        <p:origin x="84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1/26/2025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svg"/><Relationship Id="rId13" Type="http://schemas.openxmlformats.org/officeDocument/2006/relationships/image" Target="../media/image12.png"/><Relationship Id="rId18" Type="http://schemas.openxmlformats.org/officeDocument/2006/relationships/image" Target="../media/image17.svg"/><Relationship Id="rId26" Type="http://schemas.openxmlformats.org/officeDocument/2006/relationships/image" Target="../media/image25.svg"/><Relationship Id="rId3" Type="http://schemas.openxmlformats.org/officeDocument/2006/relationships/image" Target="../media/image2.png"/><Relationship Id="rId21" Type="http://schemas.openxmlformats.org/officeDocument/2006/relationships/image" Target="../media/image20.png"/><Relationship Id="rId7" Type="http://schemas.openxmlformats.org/officeDocument/2006/relationships/image" Target="../media/image6.png"/><Relationship Id="rId12" Type="http://schemas.openxmlformats.org/officeDocument/2006/relationships/image" Target="../media/image11.svg"/><Relationship Id="rId17" Type="http://schemas.openxmlformats.org/officeDocument/2006/relationships/image" Target="../media/image16.png"/><Relationship Id="rId25" Type="http://schemas.openxmlformats.org/officeDocument/2006/relationships/image" Target="../media/image24.png"/><Relationship Id="rId2" Type="http://schemas.openxmlformats.org/officeDocument/2006/relationships/image" Target="../media/image1.png"/><Relationship Id="rId16" Type="http://schemas.openxmlformats.org/officeDocument/2006/relationships/image" Target="../media/image15.svg"/><Relationship Id="rId20" Type="http://schemas.openxmlformats.org/officeDocument/2006/relationships/image" Target="../media/image19.svg"/><Relationship Id="rId29" Type="http://schemas.openxmlformats.org/officeDocument/2006/relationships/image" Target="../media/image28.png"/><Relationship Id="rId1" Type="http://schemas.openxmlformats.org/officeDocument/2006/relationships/slideLayout" Target="../slideLayouts/slideLayout7.xml"/><Relationship Id="rId6" Type="http://schemas.openxmlformats.org/officeDocument/2006/relationships/image" Target="../media/image5.svg"/><Relationship Id="rId11" Type="http://schemas.openxmlformats.org/officeDocument/2006/relationships/image" Target="../media/image10.png"/><Relationship Id="rId24" Type="http://schemas.openxmlformats.org/officeDocument/2006/relationships/image" Target="../media/image23.svg"/><Relationship Id="rId5" Type="http://schemas.openxmlformats.org/officeDocument/2006/relationships/image" Target="../media/image4.png"/><Relationship Id="rId15" Type="http://schemas.openxmlformats.org/officeDocument/2006/relationships/image" Target="../media/image14.png"/><Relationship Id="rId23" Type="http://schemas.openxmlformats.org/officeDocument/2006/relationships/image" Target="../media/image22.png"/><Relationship Id="rId28" Type="http://schemas.openxmlformats.org/officeDocument/2006/relationships/image" Target="../media/image27.svg"/><Relationship Id="rId10" Type="http://schemas.openxmlformats.org/officeDocument/2006/relationships/image" Target="../media/image9.svg"/><Relationship Id="rId19" Type="http://schemas.openxmlformats.org/officeDocument/2006/relationships/image" Target="../media/image18.png"/><Relationship Id="rId4" Type="http://schemas.openxmlformats.org/officeDocument/2006/relationships/image" Target="../media/image3.svg"/><Relationship Id="rId9" Type="http://schemas.openxmlformats.org/officeDocument/2006/relationships/image" Target="../media/image8.png"/><Relationship Id="rId14" Type="http://schemas.openxmlformats.org/officeDocument/2006/relationships/image" Target="../media/image13.svg"/><Relationship Id="rId22" Type="http://schemas.openxmlformats.org/officeDocument/2006/relationships/image" Target="../media/image21.svg"/><Relationship Id="rId27" Type="http://schemas.openxmlformats.org/officeDocument/2006/relationships/image" Target="../media/image26.png"/><Relationship Id="rId30" Type="http://schemas.openxmlformats.org/officeDocument/2006/relationships/image" Target="../media/image29.svg"/></Relationships>
</file>

<file path=ppt/slides/_rels/slide2.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8.png"/><Relationship Id="rId7" Type="http://schemas.openxmlformats.org/officeDocument/2006/relationships/image" Target="../media/image14.png"/><Relationship Id="rId12" Type="http://schemas.openxmlformats.org/officeDocument/2006/relationships/image" Target="../media/image27.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1.svg"/><Relationship Id="rId11" Type="http://schemas.openxmlformats.org/officeDocument/2006/relationships/image" Target="../media/image26.png"/><Relationship Id="rId5" Type="http://schemas.openxmlformats.org/officeDocument/2006/relationships/image" Target="../media/image10.png"/><Relationship Id="rId10" Type="http://schemas.openxmlformats.org/officeDocument/2006/relationships/image" Target="../media/image21.svg"/><Relationship Id="rId4" Type="http://schemas.openxmlformats.org/officeDocument/2006/relationships/image" Target="../media/image9.svg"/><Relationship Id="rId9" Type="http://schemas.openxmlformats.org/officeDocument/2006/relationships/image" Target="../media/image20.png"/></Relationships>
</file>

<file path=ppt/slides/_rels/slide3.xml.rels><?xml version="1.0" encoding="UTF-8" standalone="yes"?>
<Relationships xmlns="http://schemas.openxmlformats.org/package/2006/relationships"><Relationship Id="rId8" Type="http://schemas.openxmlformats.org/officeDocument/2006/relationships/image" Target="../media/image29.svg"/><Relationship Id="rId3" Type="http://schemas.openxmlformats.org/officeDocument/2006/relationships/image" Target="../media/image10.png"/><Relationship Id="rId7" Type="http://schemas.openxmlformats.org/officeDocument/2006/relationships/image" Target="../media/image28.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11.svg"/></Relationships>
</file>

<file path=ppt/slides/_rels/slide4.xml.rels><?xml version="1.0" encoding="UTF-8" standalone="yes"?>
<Relationships xmlns="http://schemas.openxmlformats.org/package/2006/relationships"><Relationship Id="rId8" Type="http://schemas.openxmlformats.org/officeDocument/2006/relationships/image" Target="../media/image9.svg"/><Relationship Id="rId13" Type="http://schemas.openxmlformats.org/officeDocument/2006/relationships/image" Target="../media/image22.png"/><Relationship Id="rId18" Type="http://schemas.openxmlformats.org/officeDocument/2006/relationships/image" Target="../media/image27.svg"/><Relationship Id="rId3" Type="http://schemas.openxmlformats.org/officeDocument/2006/relationships/image" Target="../media/image2.png"/><Relationship Id="rId7" Type="http://schemas.openxmlformats.org/officeDocument/2006/relationships/image" Target="../media/image8.png"/><Relationship Id="rId12" Type="http://schemas.openxmlformats.org/officeDocument/2006/relationships/image" Target="../media/image19.svg"/><Relationship Id="rId17" Type="http://schemas.openxmlformats.org/officeDocument/2006/relationships/image" Target="../media/image26.png"/><Relationship Id="rId2" Type="http://schemas.openxmlformats.org/officeDocument/2006/relationships/image" Target="../media/image1.png"/><Relationship Id="rId16" Type="http://schemas.openxmlformats.org/officeDocument/2006/relationships/image" Target="../media/image25.svg"/><Relationship Id="rId1" Type="http://schemas.openxmlformats.org/officeDocument/2006/relationships/slideLayout" Target="../slideLayouts/slideLayout7.xml"/><Relationship Id="rId6" Type="http://schemas.openxmlformats.org/officeDocument/2006/relationships/image" Target="../media/image5.svg"/><Relationship Id="rId11" Type="http://schemas.openxmlformats.org/officeDocument/2006/relationships/image" Target="../media/image18.png"/><Relationship Id="rId5" Type="http://schemas.openxmlformats.org/officeDocument/2006/relationships/image" Target="../media/image4.png"/><Relationship Id="rId15" Type="http://schemas.openxmlformats.org/officeDocument/2006/relationships/image" Target="../media/image24.png"/><Relationship Id="rId10" Type="http://schemas.openxmlformats.org/officeDocument/2006/relationships/image" Target="../media/image15.svg"/><Relationship Id="rId19" Type="http://schemas.openxmlformats.org/officeDocument/2006/relationships/image" Target="../media/image30.png"/><Relationship Id="rId4" Type="http://schemas.openxmlformats.org/officeDocument/2006/relationships/image" Target="../media/image3.svg"/><Relationship Id="rId9" Type="http://schemas.openxmlformats.org/officeDocument/2006/relationships/image" Target="../media/image14.png"/><Relationship Id="rId14" Type="http://schemas.openxmlformats.org/officeDocument/2006/relationships/image" Target="../media/image23.svg"/></Relationships>
</file>

<file path=ppt/slides/_rels/slide5.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31.png"/><Relationship Id="rId7" Type="http://schemas.openxmlformats.org/officeDocument/2006/relationships/image" Target="../media/image13.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27.svg"/><Relationship Id="rId4" Type="http://schemas.openxmlformats.org/officeDocument/2006/relationships/image" Target="../media/image26.png"/><Relationship Id="rId9" Type="http://schemas.openxmlformats.org/officeDocument/2006/relationships/image" Target="../media/image17.svg"/></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9.svg"/></Relationships>
</file>

<file path=ppt/slides/_rels/slide7.xml.rels><?xml version="1.0" encoding="UTF-8" standalone="yes"?>
<Relationships xmlns="http://schemas.openxmlformats.org/package/2006/relationships"><Relationship Id="rId3" Type="http://schemas.openxmlformats.org/officeDocument/2006/relationships/image" Target="../media/image32.png"/><Relationship Id="rId7" Type="http://schemas.openxmlformats.org/officeDocument/2006/relationships/image" Target="../media/image34.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3.png"/><Relationship Id="rId5" Type="http://schemas.openxmlformats.org/officeDocument/2006/relationships/image" Target="../media/image11.sv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7.png"/></Relationships>
</file>

<file path=ppt/slides/_rels/slide10.xml.rels><?xml version="1.0" encoding="UTF-8" standalone="yes"?>
<Relationships xmlns="http://schemas.openxmlformats.org/package/2006/relationships"><Relationship Id="rId3" Type="http://schemas.openxmlformats.org/officeDocument/2006/relationships/image" Target="../media/image38.png"/><Relationship Id="rId7" Type="http://schemas.openxmlformats.org/officeDocument/2006/relationships/image" Target="../media/image4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11.xml.rels><?xml version="1.0" encoding="UTF-8" standalone="yes"?>
<Relationships xmlns="http://schemas.openxmlformats.org/package/2006/relationships"><Relationship Id="rId8" Type="http://schemas.openxmlformats.org/officeDocument/2006/relationships/image" Target="../media/image9.svg"/><Relationship Id="rId13" Type="http://schemas.openxmlformats.org/officeDocument/2006/relationships/image" Target="../media/image14.png"/><Relationship Id="rId18" Type="http://schemas.openxmlformats.org/officeDocument/2006/relationships/image" Target="../media/image19.svg"/><Relationship Id="rId26" Type="http://schemas.openxmlformats.org/officeDocument/2006/relationships/image" Target="../media/image27.svg"/><Relationship Id="rId3" Type="http://schemas.openxmlformats.org/officeDocument/2006/relationships/image" Target="../media/image2.png"/><Relationship Id="rId21" Type="http://schemas.openxmlformats.org/officeDocument/2006/relationships/image" Target="../media/image22.png"/><Relationship Id="rId7" Type="http://schemas.openxmlformats.org/officeDocument/2006/relationships/image" Target="../media/image8.png"/><Relationship Id="rId12" Type="http://schemas.openxmlformats.org/officeDocument/2006/relationships/image" Target="../media/image13.svg"/><Relationship Id="rId17" Type="http://schemas.openxmlformats.org/officeDocument/2006/relationships/image" Target="../media/image18.png"/><Relationship Id="rId25" Type="http://schemas.openxmlformats.org/officeDocument/2006/relationships/image" Target="../media/image26.png"/><Relationship Id="rId2" Type="http://schemas.openxmlformats.org/officeDocument/2006/relationships/image" Target="../media/image1.png"/><Relationship Id="rId16" Type="http://schemas.openxmlformats.org/officeDocument/2006/relationships/image" Target="../media/image17.svg"/><Relationship Id="rId20" Type="http://schemas.openxmlformats.org/officeDocument/2006/relationships/image" Target="../media/image21.svg"/><Relationship Id="rId29" Type="http://schemas.openxmlformats.org/officeDocument/2006/relationships/hyperlink" Target="https://github.com/hoanglvuit/retrieve_images" TargetMode="External"/><Relationship Id="rId1" Type="http://schemas.openxmlformats.org/officeDocument/2006/relationships/slideLayout" Target="../slideLayouts/slideLayout7.xml"/><Relationship Id="rId6" Type="http://schemas.openxmlformats.org/officeDocument/2006/relationships/image" Target="../media/image5.svg"/><Relationship Id="rId11" Type="http://schemas.openxmlformats.org/officeDocument/2006/relationships/image" Target="../media/image12.png"/><Relationship Id="rId24" Type="http://schemas.openxmlformats.org/officeDocument/2006/relationships/image" Target="../media/image25.svg"/><Relationship Id="rId5" Type="http://schemas.openxmlformats.org/officeDocument/2006/relationships/image" Target="../media/image4.png"/><Relationship Id="rId15" Type="http://schemas.openxmlformats.org/officeDocument/2006/relationships/image" Target="../media/image16.png"/><Relationship Id="rId23" Type="http://schemas.openxmlformats.org/officeDocument/2006/relationships/image" Target="../media/image24.png"/><Relationship Id="rId28" Type="http://schemas.openxmlformats.org/officeDocument/2006/relationships/image" Target="../media/image29.svg"/><Relationship Id="rId10" Type="http://schemas.openxmlformats.org/officeDocument/2006/relationships/image" Target="../media/image11.svg"/><Relationship Id="rId19" Type="http://schemas.openxmlformats.org/officeDocument/2006/relationships/image" Target="../media/image20.png"/><Relationship Id="rId4" Type="http://schemas.openxmlformats.org/officeDocument/2006/relationships/image" Target="../media/image3.svg"/><Relationship Id="rId9" Type="http://schemas.openxmlformats.org/officeDocument/2006/relationships/image" Target="../media/image10.png"/><Relationship Id="rId14" Type="http://schemas.openxmlformats.org/officeDocument/2006/relationships/image" Target="../media/image15.svg"/><Relationship Id="rId22" Type="http://schemas.openxmlformats.org/officeDocument/2006/relationships/image" Target="../media/image23.svg"/><Relationship Id="rId27"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4000500" y="-4000500"/>
            <a:ext cx="10287000" cy="18288000"/>
          </a:xfrm>
          <a:custGeom>
            <a:avLst/>
            <a:gdLst/>
            <a:ahLst/>
            <a:cxnLst/>
            <a:rect l="l" t="t" r="r" b="b"/>
            <a:pathLst>
              <a:path w="10287000" h="18288000">
                <a:moveTo>
                  <a:pt x="10287000" y="0"/>
                </a:moveTo>
                <a:lnTo>
                  <a:pt x="10287000" y="18288000"/>
                </a:lnTo>
                <a:lnTo>
                  <a:pt x="0" y="18288000"/>
                </a:lnTo>
                <a:lnTo>
                  <a:pt x="0" y="0"/>
                </a:lnTo>
                <a:lnTo>
                  <a:pt x="10287000" y="0"/>
                </a:lnTo>
                <a:close/>
              </a:path>
            </a:pathLst>
          </a:custGeom>
          <a:blipFill>
            <a:blip r:embed="rId2"/>
            <a:stretch>
              <a:fillRect l="-71867" t="-3631" r="-74156" b="-2747"/>
            </a:stretch>
          </a:blipFill>
        </p:spPr>
        <p:txBody>
          <a:bodyPr/>
          <a:lstStyle/>
          <a:p>
            <a:endParaRPr lang="en-US"/>
          </a:p>
        </p:txBody>
      </p:sp>
      <p:sp>
        <p:nvSpPr>
          <p:cNvPr id="3" name="Freeform 3"/>
          <p:cNvSpPr/>
          <p:nvPr/>
        </p:nvSpPr>
        <p:spPr>
          <a:xfrm>
            <a:off x="-2329398" y="8614893"/>
            <a:ext cx="4899948" cy="3344214"/>
          </a:xfrm>
          <a:custGeom>
            <a:avLst/>
            <a:gdLst/>
            <a:ahLst/>
            <a:cxnLst/>
            <a:rect l="l" t="t" r="r" b="b"/>
            <a:pathLst>
              <a:path w="4899948" h="3344214">
                <a:moveTo>
                  <a:pt x="0" y="0"/>
                </a:moveTo>
                <a:lnTo>
                  <a:pt x="4899947" y="0"/>
                </a:lnTo>
                <a:lnTo>
                  <a:pt x="4899947" y="3344214"/>
                </a:lnTo>
                <a:lnTo>
                  <a:pt x="0" y="334421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4" name="Freeform 4"/>
          <p:cNvSpPr/>
          <p:nvPr/>
        </p:nvSpPr>
        <p:spPr>
          <a:xfrm>
            <a:off x="6030709" y="9258300"/>
            <a:ext cx="3059829" cy="751049"/>
          </a:xfrm>
          <a:custGeom>
            <a:avLst/>
            <a:gdLst/>
            <a:ahLst/>
            <a:cxnLst/>
            <a:rect l="l" t="t" r="r" b="b"/>
            <a:pathLst>
              <a:path w="3059829" h="751049">
                <a:moveTo>
                  <a:pt x="0" y="0"/>
                </a:moveTo>
                <a:lnTo>
                  <a:pt x="3059829" y="0"/>
                </a:lnTo>
                <a:lnTo>
                  <a:pt x="3059829" y="751049"/>
                </a:lnTo>
                <a:lnTo>
                  <a:pt x="0" y="75104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5" name="Freeform 5"/>
          <p:cNvSpPr/>
          <p:nvPr/>
        </p:nvSpPr>
        <p:spPr>
          <a:xfrm>
            <a:off x="14236705" y="6409875"/>
            <a:ext cx="724985" cy="920616"/>
          </a:xfrm>
          <a:custGeom>
            <a:avLst/>
            <a:gdLst/>
            <a:ahLst/>
            <a:cxnLst/>
            <a:rect l="l" t="t" r="r" b="b"/>
            <a:pathLst>
              <a:path w="724985" h="920616">
                <a:moveTo>
                  <a:pt x="0" y="0"/>
                </a:moveTo>
                <a:lnTo>
                  <a:pt x="724986" y="0"/>
                </a:lnTo>
                <a:lnTo>
                  <a:pt x="724986" y="920616"/>
                </a:lnTo>
                <a:lnTo>
                  <a:pt x="0" y="920616"/>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
        <p:nvSpPr>
          <p:cNvPr id="6" name="Freeform 6"/>
          <p:cNvSpPr/>
          <p:nvPr/>
        </p:nvSpPr>
        <p:spPr>
          <a:xfrm>
            <a:off x="14215205" y="8540136"/>
            <a:ext cx="4602314" cy="3618569"/>
          </a:xfrm>
          <a:custGeom>
            <a:avLst/>
            <a:gdLst/>
            <a:ahLst/>
            <a:cxnLst/>
            <a:rect l="l" t="t" r="r" b="b"/>
            <a:pathLst>
              <a:path w="4602314" h="3618569">
                <a:moveTo>
                  <a:pt x="0" y="0"/>
                </a:moveTo>
                <a:lnTo>
                  <a:pt x="4602314" y="0"/>
                </a:lnTo>
                <a:lnTo>
                  <a:pt x="4602314" y="3618570"/>
                </a:lnTo>
                <a:lnTo>
                  <a:pt x="0" y="3618570"/>
                </a:lnTo>
                <a:lnTo>
                  <a:pt x="0" y="0"/>
                </a:lnTo>
                <a:close/>
              </a:path>
            </a:pathLst>
          </a:custGeom>
          <a:blipFill>
            <a:blip r:embed="rId9">
              <a:extLst>
                <a:ext uri="{96DAC541-7B7A-43D3-8B79-37D633B846F1}">
                  <asvg:svgBlip xmlns:asvg="http://schemas.microsoft.com/office/drawing/2016/SVG/main" r:embed="rId10"/>
                </a:ext>
              </a:extLst>
            </a:blip>
            <a:stretch>
              <a:fillRect/>
            </a:stretch>
          </a:blipFill>
          <a:ln cap="sq">
            <a:noFill/>
            <a:prstDash val="solid"/>
            <a:miter/>
          </a:ln>
        </p:spPr>
        <p:txBody>
          <a:bodyPr/>
          <a:lstStyle/>
          <a:p>
            <a:endParaRPr lang="en-US"/>
          </a:p>
        </p:txBody>
      </p:sp>
      <p:sp>
        <p:nvSpPr>
          <p:cNvPr id="7" name="Freeform 7"/>
          <p:cNvSpPr/>
          <p:nvPr/>
        </p:nvSpPr>
        <p:spPr>
          <a:xfrm>
            <a:off x="-674156" y="-1072630"/>
            <a:ext cx="4899948" cy="3068592"/>
          </a:xfrm>
          <a:custGeom>
            <a:avLst/>
            <a:gdLst/>
            <a:ahLst/>
            <a:cxnLst/>
            <a:rect l="l" t="t" r="r" b="b"/>
            <a:pathLst>
              <a:path w="4899948" h="3068592">
                <a:moveTo>
                  <a:pt x="0" y="0"/>
                </a:moveTo>
                <a:lnTo>
                  <a:pt x="4899948" y="0"/>
                </a:lnTo>
                <a:lnTo>
                  <a:pt x="4899948" y="3068592"/>
                </a:lnTo>
                <a:lnTo>
                  <a:pt x="0" y="3068592"/>
                </a:lnTo>
                <a:lnTo>
                  <a:pt x="0" y="0"/>
                </a:lnTo>
                <a:close/>
              </a:path>
            </a:pathLst>
          </a:custGeom>
          <a:blipFill>
            <a:blip r:embed="rId11">
              <a:extLst>
                <a:ext uri="{96DAC541-7B7A-43D3-8B79-37D633B846F1}">
                  <asvg:svgBlip xmlns:asvg="http://schemas.microsoft.com/office/drawing/2016/SVG/main" r:embed="rId12"/>
                </a:ext>
              </a:extLst>
            </a:blip>
            <a:stretch>
              <a:fillRect/>
            </a:stretch>
          </a:blipFill>
          <a:ln cap="sq">
            <a:noFill/>
            <a:prstDash val="solid"/>
            <a:miter/>
          </a:ln>
        </p:spPr>
        <p:txBody>
          <a:bodyPr/>
          <a:lstStyle/>
          <a:p>
            <a:endParaRPr lang="en-US"/>
          </a:p>
        </p:txBody>
      </p:sp>
      <p:sp>
        <p:nvSpPr>
          <p:cNvPr id="8" name="Freeform 8"/>
          <p:cNvSpPr/>
          <p:nvPr/>
        </p:nvSpPr>
        <p:spPr>
          <a:xfrm>
            <a:off x="12686214" y="-2578193"/>
            <a:ext cx="4292424" cy="3870986"/>
          </a:xfrm>
          <a:custGeom>
            <a:avLst/>
            <a:gdLst/>
            <a:ahLst/>
            <a:cxnLst/>
            <a:rect l="l" t="t" r="r" b="b"/>
            <a:pathLst>
              <a:path w="4292424" h="3870986">
                <a:moveTo>
                  <a:pt x="0" y="0"/>
                </a:moveTo>
                <a:lnTo>
                  <a:pt x="4292424" y="0"/>
                </a:lnTo>
                <a:lnTo>
                  <a:pt x="4292424" y="3870986"/>
                </a:lnTo>
                <a:lnTo>
                  <a:pt x="0" y="3870986"/>
                </a:lnTo>
                <a:lnTo>
                  <a:pt x="0" y="0"/>
                </a:lnTo>
                <a:close/>
              </a:path>
            </a:pathLst>
          </a:custGeom>
          <a:blipFill>
            <a:blip r:embed="rId13">
              <a:extLst>
                <a:ext uri="{96DAC541-7B7A-43D3-8B79-37D633B846F1}">
                  <asvg:svgBlip xmlns:asvg="http://schemas.microsoft.com/office/drawing/2016/SVG/main" r:embed="rId14"/>
                </a:ext>
              </a:extLst>
            </a:blip>
            <a:stretch>
              <a:fillRect/>
            </a:stretch>
          </a:blipFill>
          <a:ln cap="sq">
            <a:noFill/>
            <a:prstDash val="solid"/>
            <a:miter/>
          </a:ln>
        </p:spPr>
        <p:txBody>
          <a:bodyPr/>
          <a:lstStyle/>
          <a:p>
            <a:endParaRPr lang="en-US"/>
          </a:p>
        </p:txBody>
      </p:sp>
      <p:sp>
        <p:nvSpPr>
          <p:cNvPr id="9" name="Freeform 9"/>
          <p:cNvSpPr/>
          <p:nvPr/>
        </p:nvSpPr>
        <p:spPr>
          <a:xfrm>
            <a:off x="10138935" y="9258300"/>
            <a:ext cx="4076270" cy="2863579"/>
          </a:xfrm>
          <a:custGeom>
            <a:avLst/>
            <a:gdLst/>
            <a:ahLst/>
            <a:cxnLst/>
            <a:rect l="l" t="t" r="r" b="b"/>
            <a:pathLst>
              <a:path w="4076270" h="2863579">
                <a:moveTo>
                  <a:pt x="0" y="0"/>
                </a:moveTo>
                <a:lnTo>
                  <a:pt x="4076270" y="0"/>
                </a:lnTo>
                <a:lnTo>
                  <a:pt x="4076270" y="2863579"/>
                </a:lnTo>
                <a:lnTo>
                  <a:pt x="0" y="2863579"/>
                </a:lnTo>
                <a:lnTo>
                  <a:pt x="0" y="0"/>
                </a:lnTo>
                <a:close/>
              </a:path>
            </a:pathLst>
          </a:custGeom>
          <a:blipFill>
            <a:blip r:embed="rId15">
              <a:extLst>
                <a:ext uri="{96DAC541-7B7A-43D3-8B79-37D633B846F1}">
                  <asvg:svgBlip xmlns:asvg="http://schemas.microsoft.com/office/drawing/2016/SVG/main" r:embed="rId16"/>
                </a:ext>
              </a:extLst>
            </a:blip>
            <a:stretch>
              <a:fillRect/>
            </a:stretch>
          </a:blipFill>
          <a:ln cap="sq">
            <a:noFill/>
            <a:prstDash val="solid"/>
            <a:miter/>
          </a:ln>
        </p:spPr>
        <p:txBody>
          <a:bodyPr/>
          <a:lstStyle/>
          <a:p>
            <a:endParaRPr lang="en-US"/>
          </a:p>
        </p:txBody>
      </p:sp>
      <p:sp>
        <p:nvSpPr>
          <p:cNvPr id="10" name="Freeform 10"/>
          <p:cNvSpPr/>
          <p:nvPr/>
        </p:nvSpPr>
        <p:spPr>
          <a:xfrm>
            <a:off x="7409323" y="-2700100"/>
            <a:ext cx="5493058" cy="4114800"/>
          </a:xfrm>
          <a:custGeom>
            <a:avLst/>
            <a:gdLst/>
            <a:ahLst/>
            <a:cxnLst/>
            <a:rect l="l" t="t" r="r" b="b"/>
            <a:pathLst>
              <a:path w="5493058" h="4114800">
                <a:moveTo>
                  <a:pt x="0" y="0"/>
                </a:moveTo>
                <a:lnTo>
                  <a:pt x="5493058" y="0"/>
                </a:lnTo>
                <a:lnTo>
                  <a:pt x="5493058" y="4114800"/>
                </a:lnTo>
                <a:lnTo>
                  <a:pt x="0" y="4114800"/>
                </a:lnTo>
                <a:lnTo>
                  <a:pt x="0" y="0"/>
                </a:lnTo>
                <a:close/>
              </a:path>
            </a:pathLst>
          </a:custGeom>
          <a:blipFill>
            <a:blip r:embed="rId17">
              <a:extLst>
                <a:ext uri="{96DAC541-7B7A-43D3-8B79-37D633B846F1}">
                  <asvg:svgBlip xmlns:asvg="http://schemas.microsoft.com/office/drawing/2016/SVG/main" r:embed="rId18"/>
                </a:ext>
              </a:extLst>
            </a:blip>
            <a:stretch>
              <a:fillRect/>
            </a:stretch>
          </a:blipFill>
          <a:ln cap="sq">
            <a:noFill/>
            <a:prstDash val="solid"/>
            <a:miter/>
          </a:ln>
        </p:spPr>
        <p:txBody>
          <a:bodyPr/>
          <a:lstStyle/>
          <a:p>
            <a:endParaRPr lang="en-US"/>
          </a:p>
        </p:txBody>
      </p:sp>
      <p:sp>
        <p:nvSpPr>
          <p:cNvPr id="11" name="Freeform 11"/>
          <p:cNvSpPr/>
          <p:nvPr/>
        </p:nvSpPr>
        <p:spPr>
          <a:xfrm rot="4747568">
            <a:off x="-2972342" y="3665317"/>
            <a:ext cx="4896097" cy="2735694"/>
          </a:xfrm>
          <a:custGeom>
            <a:avLst/>
            <a:gdLst/>
            <a:ahLst/>
            <a:cxnLst/>
            <a:rect l="l" t="t" r="r" b="b"/>
            <a:pathLst>
              <a:path w="4896097" h="2735694">
                <a:moveTo>
                  <a:pt x="0" y="0"/>
                </a:moveTo>
                <a:lnTo>
                  <a:pt x="4896097" y="0"/>
                </a:lnTo>
                <a:lnTo>
                  <a:pt x="4896097" y="2735694"/>
                </a:lnTo>
                <a:lnTo>
                  <a:pt x="0" y="2735694"/>
                </a:lnTo>
                <a:lnTo>
                  <a:pt x="0" y="0"/>
                </a:lnTo>
                <a:close/>
              </a:path>
            </a:pathLst>
          </a:custGeom>
          <a:blipFill>
            <a:blip r:embed="rId19">
              <a:extLst>
                <a:ext uri="{96DAC541-7B7A-43D3-8B79-37D633B846F1}">
                  <asvg:svgBlip xmlns:asvg="http://schemas.microsoft.com/office/drawing/2016/SVG/main" r:embed="rId20"/>
                </a:ext>
              </a:extLst>
            </a:blip>
            <a:stretch>
              <a:fillRect/>
            </a:stretch>
          </a:blipFill>
          <a:ln cap="sq">
            <a:noFill/>
            <a:prstDash val="solid"/>
            <a:miter/>
          </a:ln>
        </p:spPr>
        <p:txBody>
          <a:bodyPr/>
          <a:lstStyle/>
          <a:p>
            <a:endParaRPr lang="en-US"/>
          </a:p>
        </p:txBody>
      </p:sp>
      <p:sp>
        <p:nvSpPr>
          <p:cNvPr id="12" name="Freeform 12"/>
          <p:cNvSpPr/>
          <p:nvPr/>
        </p:nvSpPr>
        <p:spPr>
          <a:xfrm>
            <a:off x="4831481" y="-1626507"/>
            <a:ext cx="2892762" cy="2919301"/>
          </a:xfrm>
          <a:custGeom>
            <a:avLst/>
            <a:gdLst/>
            <a:ahLst/>
            <a:cxnLst/>
            <a:rect l="l" t="t" r="r" b="b"/>
            <a:pathLst>
              <a:path w="2892762" h="2919301">
                <a:moveTo>
                  <a:pt x="0" y="0"/>
                </a:moveTo>
                <a:lnTo>
                  <a:pt x="2892761" y="0"/>
                </a:lnTo>
                <a:lnTo>
                  <a:pt x="2892761" y="2919300"/>
                </a:lnTo>
                <a:lnTo>
                  <a:pt x="0" y="2919300"/>
                </a:lnTo>
                <a:lnTo>
                  <a:pt x="0" y="0"/>
                </a:lnTo>
                <a:close/>
              </a:path>
            </a:pathLst>
          </a:custGeom>
          <a:blipFill>
            <a:blip r:embed="rId21">
              <a:extLst>
                <a:ext uri="{96DAC541-7B7A-43D3-8B79-37D633B846F1}">
                  <asvg:svgBlip xmlns:asvg="http://schemas.microsoft.com/office/drawing/2016/SVG/main" r:embed="rId22"/>
                </a:ext>
              </a:extLst>
            </a:blip>
            <a:stretch>
              <a:fillRect/>
            </a:stretch>
          </a:blipFill>
          <a:ln cap="sq">
            <a:noFill/>
            <a:prstDash val="solid"/>
            <a:miter/>
          </a:ln>
        </p:spPr>
        <p:txBody>
          <a:bodyPr/>
          <a:lstStyle/>
          <a:p>
            <a:endParaRPr lang="en-US"/>
          </a:p>
        </p:txBody>
      </p:sp>
      <p:sp>
        <p:nvSpPr>
          <p:cNvPr id="13" name="Freeform 13"/>
          <p:cNvSpPr/>
          <p:nvPr/>
        </p:nvSpPr>
        <p:spPr>
          <a:xfrm>
            <a:off x="17259300" y="2262342"/>
            <a:ext cx="3575541" cy="3575541"/>
          </a:xfrm>
          <a:custGeom>
            <a:avLst/>
            <a:gdLst/>
            <a:ahLst/>
            <a:cxnLst/>
            <a:rect l="l" t="t" r="r" b="b"/>
            <a:pathLst>
              <a:path w="3575541" h="3575541">
                <a:moveTo>
                  <a:pt x="0" y="0"/>
                </a:moveTo>
                <a:lnTo>
                  <a:pt x="3575541" y="0"/>
                </a:lnTo>
                <a:lnTo>
                  <a:pt x="3575541" y="3575541"/>
                </a:lnTo>
                <a:lnTo>
                  <a:pt x="0" y="3575541"/>
                </a:lnTo>
                <a:lnTo>
                  <a:pt x="0" y="0"/>
                </a:lnTo>
                <a:close/>
              </a:path>
            </a:pathLst>
          </a:custGeom>
          <a:blipFill>
            <a:blip r:embed="rId23">
              <a:extLst>
                <a:ext uri="{96DAC541-7B7A-43D3-8B79-37D633B846F1}">
                  <asvg:svgBlip xmlns:asvg="http://schemas.microsoft.com/office/drawing/2016/SVG/main" r:embed="rId24"/>
                </a:ext>
              </a:extLst>
            </a:blip>
            <a:stretch>
              <a:fillRect/>
            </a:stretch>
          </a:blipFill>
          <a:ln cap="sq">
            <a:noFill/>
            <a:prstDash val="solid"/>
            <a:miter/>
          </a:ln>
        </p:spPr>
        <p:txBody>
          <a:bodyPr/>
          <a:lstStyle/>
          <a:p>
            <a:endParaRPr lang="en-US"/>
          </a:p>
        </p:txBody>
      </p:sp>
      <p:sp>
        <p:nvSpPr>
          <p:cNvPr id="14" name="Freeform 14"/>
          <p:cNvSpPr/>
          <p:nvPr/>
        </p:nvSpPr>
        <p:spPr>
          <a:xfrm>
            <a:off x="2570549" y="9093737"/>
            <a:ext cx="2587020" cy="2386526"/>
          </a:xfrm>
          <a:custGeom>
            <a:avLst/>
            <a:gdLst/>
            <a:ahLst/>
            <a:cxnLst/>
            <a:rect l="l" t="t" r="r" b="b"/>
            <a:pathLst>
              <a:path w="2587020" h="2386526">
                <a:moveTo>
                  <a:pt x="0" y="0"/>
                </a:moveTo>
                <a:lnTo>
                  <a:pt x="2587020" y="0"/>
                </a:lnTo>
                <a:lnTo>
                  <a:pt x="2587020" y="2386526"/>
                </a:lnTo>
                <a:lnTo>
                  <a:pt x="0" y="2386526"/>
                </a:lnTo>
                <a:lnTo>
                  <a:pt x="0" y="0"/>
                </a:lnTo>
                <a:close/>
              </a:path>
            </a:pathLst>
          </a:custGeom>
          <a:blipFill>
            <a:blip r:embed="rId25">
              <a:extLst>
                <a:ext uri="{96DAC541-7B7A-43D3-8B79-37D633B846F1}">
                  <asvg:svgBlip xmlns:asvg="http://schemas.microsoft.com/office/drawing/2016/SVG/main" r:embed="rId26"/>
                </a:ext>
              </a:extLst>
            </a:blip>
            <a:stretch>
              <a:fillRect/>
            </a:stretch>
          </a:blipFill>
          <a:ln cap="sq">
            <a:noFill/>
            <a:prstDash val="solid"/>
            <a:miter/>
          </a:ln>
        </p:spPr>
        <p:txBody>
          <a:bodyPr/>
          <a:lstStyle/>
          <a:p>
            <a:endParaRPr lang="en-US"/>
          </a:p>
        </p:txBody>
      </p:sp>
      <p:sp>
        <p:nvSpPr>
          <p:cNvPr id="15" name="Freeform 15"/>
          <p:cNvSpPr/>
          <p:nvPr/>
        </p:nvSpPr>
        <p:spPr>
          <a:xfrm rot="-5282649">
            <a:off x="16440369" y="6970869"/>
            <a:ext cx="3382987" cy="1154444"/>
          </a:xfrm>
          <a:custGeom>
            <a:avLst/>
            <a:gdLst/>
            <a:ahLst/>
            <a:cxnLst/>
            <a:rect l="l" t="t" r="r" b="b"/>
            <a:pathLst>
              <a:path w="3382987" h="1154444">
                <a:moveTo>
                  <a:pt x="0" y="0"/>
                </a:moveTo>
                <a:lnTo>
                  <a:pt x="3382987" y="0"/>
                </a:lnTo>
                <a:lnTo>
                  <a:pt x="3382987" y="1154445"/>
                </a:lnTo>
                <a:lnTo>
                  <a:pt x="0" y="1154445"/>
                </a:lnTo>
                <a:lnTo>
                  <a:pt x="0" y="0"/>
                </a:lnTo>
                <a:close/>
              </a:path>
            </a:pathLst>
          </a:custGeom>
          <a:blipFill>
            <a:blip r:embed="rId27">
              <a:extLst>
                <a:ext uri="{96DAC541-7B7A-43D3-8B79-37D633B846F1}">
                  <asvg:svgBlip xmlns:asvg="http://schemas.microsoft.com/office/drawing/2016/SVG/main" r:embed="rId28"/>
                </a:ext>
              </a:extLst>
            </a:blip>
            <a:stretch>
              <a:fillRect/>
            </a:stretch>
          </a:blipFill>
          <a:ln cap="sq">
            <a:noFill/>
            <a:prstDash val="solid"/>
            <a:miter/>
          </a:ln>
        </p:spPr>
        <p:txBody>
          <a:bodyPr/>
          <a:lstStyle/>
          <a:p>
            <a:endParaRPr lang="en-US"/>
          </a:p>
        </p:txBody>
      </p:sp>
      <p:sp>
        <p:nvSpPr>
          <p:cNvPr id="16" name="Freeform 16"/>
          <p:cNvSpPr/>
          <p:nvPr/>
        </p:nvSpPr>
        <p:spPr>
          <a:xfrm>
            <a:off x="16978638" y="-642644"/>
            <a:ext cx="3104522" cy="3342688"/>
          </a:xfrm>
          <a:custGeom>
            <a:avLst/>
            <a:gdLst/>
            <a:ahLst/>
            <a:cxnLst/>
            <a:rect l="l" t="t" r="r" b="b"/>
            <a:pathLst>
              <a:path w="3104522" h="3342688">
                <a:moveTo>
                  <a:pt x="0" y="0"/>
                </a:moveTo>
                <a:lnTo>
                  <a:pt x="3104522" y="0"/>
                </a:lnTo>
                <a:lnTo>
                  <a:pt x="3104522" y="3342688"/>
                </a:lnTo>
                <a:lnTo>
                  <a:pt x="0" y="3342688"/>
                </a:lnTo>
                <a:lnTo>
                  <a:pt x="0" y="0"/>
                </a:lnTo>
                <a:close/>
              </a:path>
            </a:pathLst>
          </a:custGeom>
          <a:blipFill>
            <a:blip r:embed="rId29">
              <a:extLst>
                <a:ext uri="{96DAC541-7B7A-43D3-8B79-37D633B846F1}">
                  <asvg:svgBlip xmlns:asvg="http://schemas.microsoft.com/office/drawing/2016/SVG/main" r:embed="rId30"/>
                </a:ext>
              </a:extLst>
            </a:blip>
            <a:stretch>
              <a:fillRect/>
            </a:stretch>
          </a:blipFill>
          <a:ln cap="sq">
            <a:noFill/>
            <a:prstDash val="solid"/>
            <a:miter/>
          </a:ln>
        </p:spPr>
        <p:txBody>
          <a:bodyPr/>
          <a:lstStyle/>
          <a:p>
            <a:endParaRPr lang="en-US"/>
          </a:p>
        </p:txBody>
      </p:sp>
      <p:sp>
        <p:nvSpPr>
          <p:cNvPr id="17" name="TextBox 17"/>
          <p:cNvSpPr txBox="1"/>
          <p:nvPr/>
        </p:nvSpPr>
        <p:spPr>
          <a:xfrm>
            <a:off x="1871535" y="1281988"/>
            <a:ext cx="14544930" cy="4744020"/>
          </a:xfrm>
          <a:prstGeom prst="rect">
            <a:avLst/>
          </a:prstGeom>
        </p:spPr>
        <p:txBody>
          <a:bodyPr lIns="0" tIns="0" rIns="0" bIns="0" rtlCol="0" anchor="t">
            <a:spAutoFit/>
          </a:bodyPr>
          <a:lstStyle/>
          <a:p>
            <a:pPr algn="ctr">
              <a:lnSpc>
                <a:spcPts val="12218"/>
              </a:lnSpc>
            </a:pPr>
            <a:r>
              <a:rPr lang="en-US" sz="12998" b="1" dirty="0">
                <a:solidFill>
                  <a:srgbClr val="000000"/>
                </a:solidFill>
                <a:latin typeface="DM Sans Bold"/>
                <a:ea typeface="DM Sans Bold"/>
                <a:cs typeface="DM Sans Bold"/>
                <a:sym typeface="DM Sans Bold"/>
              </a:rPr>
              <a:t>Cross-Modal Retrieval</a:t>
            </a:r>
          </a:p>
          <a:p>
            <a:pPr algn="ctr">
              <a:lnSpc>
                <a:spcPts val="12218"/>
              </a:lnSpc>
            </a:pPr>
            <a:r>
              <a:rPr lang="en-US" sz="12998" b="1" dirty="0">
                <a:solidFill>
                  <a:srgbClr val="000000"/>
                </a:solidFill>
                <a:latin typeface="DM Sans Bold"/>
                <a:ea typeface="DM Sans Bold"/>
                <a:cs typeface="DM Sans Bold"/>
                <a:sym typeface="DM Sans Bold"/>
              </a:rPr>
              <a:t>Based On CLIP</a:t>
            </a:r>
          </a:p>
        </p:txBody>
      </p:sp>
      <p:sp>
        <p:nvSpPr>
          <p:cNvPr id="18" name="TextBox 18"/>
          <p:cNvSpPr txBox="1"/>
          <p:nvPr/>
        </p:nvSpPr>
        <p:spPr>
          <a:xfrm>
            <a:off x="4914102" y="6255666"/>
            <a:ext cx="8459795" cy="2840714"/>
          </a:xfrm>
          <a:prstGeom prst="rect">
            <a:avLst/>
          </a:prstGeom>
        </p:spPr>
        <p:txBody>
          <a:bodyPr lIns="0" tIns="0" rIns="0" bIns="0" rtlCol="0" anchor="t">
            <a:spAutoFit/>
          </a:bodyPr>
          <a:lstStyle/>
          <a:p>
            <a:pPr algn="ctr">
              <a:lnSpc>
                <a:spcPts val="4381"/>
              </a:lnSpc>
            </a:pPr>
            <a:r>
              <a:rPr lang="en-US" sz="4381" spc="-87" dirty="0" err="1">
                <a:solidFill>
                  <a:srgbClr val="000000"/>
                </a:solidFill>
                <a:latin typeface="DM Sans" pitchFamily="2" charset="0"/>
                <a:ea typeface="DM Sans"/>
                <a:cs typeface="DM Sans"/>
                <a:sym typeface="DM Sans"/>
              </a:rPr>
              <a:t>Được</a:t>
            </a:r>
            <a:r>
              <a:rPr lang="en-US" sz="4381" spc="-87" dirty="0">
                <a:solidFill>
                  <a:srgbClr val="000000"/>
                </a:solidFill>
                <a:latin typeface="DM Sans" pitchFamily="2" charset="0"/>
                <a:ea typeface="DM Sans"/>
                <a:cs typeface="DM Sans"/>
                <a:sym typeface="DM Sans"/>
              </a:rPr>
              <a:t> </a:t>
            </a:r>
            <a:r>
              <a:rPr lang="en-US" sz="4381" spc="-87" dirty="0" err="1">
                <a:solidFill>
                  <a:srgbClr val="000000"/>
                </a:solidFill>
                <a:latin typeface="DM Sans" pitchFamily="2" charset="0"/>
                <a:ea typeface="DM Sans"/>
                <a:cs typeface="DM Sans"/>
                <a:sym typeface="DM Sans"/>
              </a:rPr>
              <a:t>trình</a:t>
            </a:r>
            <a:r>
              <a:rPr lang="en-US" sz="4381" spc="-87" dirty="0">
                <a:solidFill>
                  <a:srgbClr val="000000"/>
                </a:solidFill>
                <a:latin typeface="DM Sans" pitchFamily="2" charset="0"/>
                <a:ea typeface="DM Sans"/>
                <a:cs typeface="DM Sans"/>
                <a:sym typeface="DM Sans"/>
              </a:rPr>
              <a:t> </a:t>
            </a:r>
            <a:r>
              <a:rPr lang="en-US" sz="4381" spc="-87" dirty="0" err="1">
                <a:solidFill>
                  <a:srgbClr val="000000"/>
                </a:solidFill>
                <a:latin typeface="DM Sans" pitchFamily="2" charset="0"/>
                <a:ea typeface="DM Sans"/>
                <a:cs typeface="DM Sans"/>
                <a:sym typeface="DM Sans"/>
              </a:rPr>
              <a:t>bày</a:t>
            </a:r>
            <a:r>
              <a:rPr lang="en-US" sz="4381" spc="-87" dirty="0">
                <a:solidFill>
                  <a:srgbClr val="000000"/>
                </a:solidFill>
                <a:latin typeface="DM Sans" pitchFamily="2" charset="0"/>
                <a:ea typeface="DM Sans"/>
                <a:cs typeface="DM Sans"/>
                <a:sym typeface="DM Sans"/>
              </a:rPr>
              <a:t> </a:t>
            </a:r>
            <a:r>
              <a:rPr lang="en-US" sz="4381" spc="-87" dirty="0" err="1">
                <a:solidFill>
                  <a:srgbClr val="000000"/>
                </a:solidFill>
                <a:latin typeface="DM Sans" pitchFamily="2" charset="0"/>
                <a:ea typeface="DM Sans"/>
                <a:cs typeface="DM Sans"/>
                <a:sym typeface="DM Sans"/>
              </a:rPr>
              <a:t>bởi</a:t>
            </a:r>
            <a:r>
              <a:rPr lang="en-US" sz="4381" spc="-87" dirty="0">
                <a:solidFill>
                  <a:srgbClr val="000000"/>
                </a:solidFill>
                <a:latin typeface="DM Sans" pitchFamily="2" charset="0"/>
                <a:ea typeface="DM Sans"/>
                <a:cs typeface="DM Sans"/>
                <a:sym typeface="DM Sans"/>
              </a:rPr>
              <a:t>:</a:t>
            </a:r>
          </a:p>
          <a:p>
            <a:pPr algn="ctr">
              <a:lnSpc>
                <a:spcPts val="4381"/>
              </a:lnSpc>
            </a:pPr>
            <a:r>
              <a:rPr lang="en-US" sz="4381" spc="-87" dirty="0" err="1">
                <a:solidFill>
                  <a:srgbClr val="000000"/>
                </a:solidFill>
                <a:latin typeface="DM Sans" pitchFamily="2" charset="0"/>
                <a:ea typeface="DM Sans Bold"/>
                <a:cs typeface="DM Sans Bold"/>
                <a:sym typeface="DM Sans Bold"/>
              </a:rPr>
              <a:t>Trần</a:t>
            </a:r>
            <a:r>
              <a:rPr lang="en-US" sz="4381" spc="-87" dirty="0">
                <a:solidFill>
                  <a:srgbClr val="000000"/>
                </a:solidFill>
                <a:latin typeface="DM Sans" pitchFamily="2" charset="0"/>
                <a:ea typeface="DM Sans Bold"/>
                <a:cs typeface="DM Sans Bold"/>
                <a:sym typeface="DM Sans Bold"/>
              </a:rPr>
              <a:t> Hà </a:t>
            </a:r>
            <a:r>
              <a:rPr lang="en-US" sz="4381" spc="-87" dirty="0" err="1">
                <a:solidFill>
                  <a:srgbClr val="000000"/>
                </a:solidFill>
                <a:latin typeface="DM Sans" pitchFamily="2" charset="0"/>
                <a:ea typeface="DM Sans Bold"/>
                <a:cs typeface="DM Sans Bold"/>
                <a:sym typeface="DM Sans Bold"/>
              </a:rPr>
              <a:t>Sơn</a:t>
            </a:r>
            <a:r>
              <a:rPr lang="en-US" sz="4381" spc="-87" dirty="0">
                <a:solidFill>
                  <a:srgbClr val="000000"/>
                </a:solidFill>
                <a:latin typeface="DM Sans" pitchFamily="2" charset="0"/>
                <a:ea typeface="DM Sans Bold"/>
                <a:cs typeface="DM Sans Bold"/>
                <a:sym typeface="DM Sans Bold"/>
              </a:rPr>
              <a:t> - 2252159</a:t>
            </a:r>
          </a:p>
          <a:p>
            <a:pPr algn="ctr">
              <a:lnSpc>
                <a:spcPts val="4381"/>
              </a:lnSpc>
            </a:pPr>
            <a:r>
              <a:rPr lang="en-US" sz="4381" spc="-87" dirty="0">
                <a:solidFill>
                  <a:srgbClr val="000000"/>
                </a:solidFill>
                <a:latin typeface="DM Sans" pitchFamily="2" charset="0"/>
                <a:ea typeface="DM Sans"/>
                <a:cs typeface="DM Sans"/>
                <a:sym typeface="DM Sans"/>
              </a:rPr>
              <a:t>Lê Văn Hoàng – 22520465</a:t>
            </a:r>
          </a:p>
          <a:p>
            <a:pPr algn="ctr">
              <a:lnSpc>
                <a:spcPts val="4381"/>
              </a:lnSpc>
            </a:pPr>
            <a:r>
              <a:rPr lang="en-US" sz="4381" spc="-87" dirty="0" err="1">
                <a:solidFill>
                  <a:srgbClr val="000000"/>
                </a:solidFill>
                <a:latin typeface="DM Sans" pitchFamily="2" charset="0"/>
                <a:ea typeface="DM Sans"/>
                <a:cs typeface="DM Sans"/>
                <a:sym typeface="DM Sans"/>
              </a:rPr>
              <a:t>Nguyễn</a:t>
            </a:r>
            <a:r>
              <a:rPr lang="en-US" sz="4381" spc="-87" dirty="0">
                <a:solidFill>
                  <a:srgbClr val="000000"/>
                </a:solidFill>
                <a:latin typeface="DM Sans" pitchFamily="2" charset="0"/>
                <a:ea typeface="DM Sans"/>
                <a:cs typeface="DM Sans"/>
                <a:sym typeface="DM Sans"/>
              </a:rPr>
              <a:t> Xuân </a:t>
            </a:r>
            <a:r>
              <a:rPr lang="en-US" sz="4381" spc="-87" dirty="0" err="1">
                <a:solidFill>
                  <a:srgbClr val="000000"/>
                </a:solidFill>
                <a:latin typeface="DM Sans" pitchFamily="2" charset="0"/>
                <a:ea typeface="DM Sans"/>
                <a:cs typeface="DM Sans"/>
                <a:sym typeface="DM Sans"/>
              </a:rPr>
              <a:t>Bách</a:t>
            </a:r>
            <a:r>
              <a:rPr lang="en-US" sz="4381" spc="-87" dirty="0">
                <a:solidFill>
                  <a:srgbClr val="000000"/>
                </a:solidFill>
                <a:latin typeface="DM Sans" pitchFamily="2" charset="0"/>
                <a:ea typeface="DM Sans"/>
                <a:cs typeface="DM Sans"/>
                <a:sym typeface="DM Sans"/>
              </a:rPr>
              <a:t> - 22520093</a:t>
            </a:r>
          </a:p>
          <a:p>
            <a:pPr algn="ctr">
              <a:lnSpc>
                <a:spcPts val="4381"/>
              </a:lnSpc>
            </a:pPr>
            <a:endParaRPr lang="en-US" sz="4381" spc="-87" dirty="0">
              <a:solidFill>
                <a:srgbClr val="000000"/>
              </a:solidFill>
              <a:latin typeface="DM Sans" pitchFamily="2" charset="0"/>
              <a:ea typeface="DM Sans"/>
              <a:cs typeface="DM Sans"/>
              <a:sym typeface="DM Sans"/>
            </a:endParaRPr>
          </a:p>
        </p:txBody>
      </p:sp>
      <p:sp>
        <p:nvSpPr>
          <p:cNvPr id="19" name="Freeform 19"/>
          <p:cNvSpPr/>
          <p:nvPr/>
        </p:nvSpPr>
        <p:spPr>
          <a:xfrm>
            <a:off x="4737926" y="2576219"/>
            <a:ext cx="724985" cy="920616"/>
          </a:xfrm>
          <a:custGeom>
            <a:avLst/>
            <a:gdLst/>
            <a:ahLst/>
            <a:cxnLst/>
            <a:rect l="l" t="t" r="r" b="b"/>
            <a:pathLst>
              <a:path w="724985" h="920616">
                <a:moveTo>
                  <a:pt x="0" y="0"/>
                </a:moveTo>
                <a:lnTo>
                  <a:pt x="724985" y="0"/>
                </a:lnTo>
                <a:lnTo>
                  <a:pt x="724985" y="920616"/>
                </a:lnTo>
                <a:lnTo>
                  <a:pt x="0" y="920616"/>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4000500" y="-4000500"/>
            <a:ext cx="10287000" cy="18288000"/>
          </a:xfrm>
          <a:custGeom>
            <a:avLst/>
            <a:gdLst/>
            <a:ahLst/>
            <a:cxnLst/>
            <a:rect l="l" t="t" r="r" b="b"/>
            <a:pathLst>
              <a:path w="10287000" h="18288000">
                <a:moveTo>
                  <a:pt x="10287000" y="0"/>
                </a:moveTo>
                <a:lnTo>
                  <a:pt x="10287000" y="18288000"/>
                </a:lnTo>
                <a:lnTo>
                  <a:pt x="0" y="18288000"/>
                </a:lnTo>
                <a:lnTo>
                  <a:pt x="0" y="0"/>
                </a:lnTo>
                <a:lnTo>
                  <a:pt x="10287000" y="0"/>
                </a:lnTo>
                <a:close/>
              </a:path>
            </a:pathLst>
          </a:custGeom>
          <a:blipFill>
            <a:blip r:embed="rId2"/>
            <a:stretch>
              <a:fillRect l="-71867" t="-3631" r="-74156" b="-2747"/>
            </a:stretch>
          </a:blipFill>
        </p:spPr>
        <p:txBody>
          <a:bodyPr/>
          <a:lstStyle/>
          <a:p>
            <a:endParaRPr lang="en-US"/>
          </a:p>
        </p:txBody>
      </p:sp>
      <p:sp>
        <p:nvSpPr>
          <p:cNvPr id="3" name="Freeform 3"/>
          <p:cNvSpPr/>
          <p:nvPr/>
        </p:nvSpPr>
        <p:spPr>
          <a:xfrm>
            <a:off x="15353489" y="8540136"/>
            <a:ext cx="4602314" cy="3618569"/>
          </a:xfrm>
          <a:custGeom>
            <a:avLst/>
            <a:gdLst/>
            <a:ahLst/>
            <a:cxnLst/>
            <a:rect l="l" t="t" r="r" b="b"/>
            <a:pathLst>
              <a:path w="4602314" h="3618569">
                <a:moveTo>
                  <a:pt x="0" y="0"/>
                </a:moveTo>
                <a:lnTo>
                  <a:pt x="4602314" y="0"/>
                </a:lnTo>
                <a:lnTo>
                  <a:pt x="4602314" y="3618570"/>
                </a:lnTo>
                <a:lnTo>
                  <a:pt x="0" y="3618570"/>
                </a:lnTo>
                <a:lnTo>
                  <a:pt x="0" y="0"/>
                </a:lnTo>
                <a:close/>
              </a:path>
            </a:pathLst>
          </a:custGeom>
          <a:blipFill>
            <a:blip r:embed="rId3">
              <a:extLst>
                <a:ext uri="{96DAC541-7B7A-43D3-8B79-37D633B846F1}">
                  <asvg:svgBlip xmlns:asvg="http://schemas.microsoft.com/office/drawing/2016/SVG/main" r:embed="rId4"/>
                </a:ext>
              </a:extLst>
            </a:blip>
            <a:stretch>
              <a:fillRect/>
            </a:stretch>
          </a:blipFill>
          <a:ln cap="sq">
            <a:noFill/>
            <a:prstDash val="solid"/>
            <a:miter/>
          </a:ln>
        </p:spPr>
        <p:txBody>
          <a:bodyPr/>
          <a:lstStyle/>
          <a:p>
            <a:endParaRPr lang="en-US"/>
          </a:p>
        </p:txBody>
      </p:sp>
      <p:sp>
        <p:nvSpPr>
          <p:cNvPr id="4" name="Freeform 4"/>
          <p:cNvSpPr/>
          <p:nvPr/>
        </p:nvSpPr>
        <p:spPr>
          <a:xfrm>
            <a:off x="-674156" y="-1072630"/>
            <a:ext cx="4899948" cy="3068592"/>
          </a:xfrm>
          <a:custGeom>
            <a:avLst/>
            <a:gdLst/>
            <a:ahLst/>
            <a:cxnLst/>
            <a:rect l="l" t="t" r="r" b="b"/>
            <a:pathLst>
              <a:path w="4899948" h="3068592">
                <a:moveTo>
                  <a:pt x="0" y="0"/>
                </a:moveTo>
                <a:lnTo>
                  <a:pt x="4899948" y="0"/>
                </a:lnTo>
                <a:lnTo>
                  <a:pt x="4899948" y="3068592"/>
                </a:lnTo>
                <a:lnTo>
                  <a:pt x="0" y="3068592"/>
                </a:lnTo>
                <a:lnTo>
                  <a:pt x="0" y="0"/>
                </a:lnTo>
                <a:close/>
              </a:path>
            </a:pathLst>
          </a:custGeom>
          <a:blipFill>
            <a:blip r:embed="rId5">
              <a:extLst>
                <a:ext uri="{96DAC541-7B7A-43D3-8B79-37D633B846F1}">
                  <asvg:svgBlip xmlns:asvg="http://schemas.microsoft.com/office/drawing/2016/SVG/main" r:embed="rId6"/>
                </a:ext>
              </a:extLst>
            </a:blip>
            <a:stretch>
              <a:fillRect/>
            </a:stretch>
          </a:blipFill>
          <a:ln cap="sq">
            <a:noFill/>
            <a:prstDash val="solid"/>
            <a:miter/>
          </a:ln>
        </p:spPr>
        <p:txBody>
          <a:bodyPr/>
          <a:lstStyle/>
          <a:p>
            <a:endParaRPr lang="en-US"/>
          </a:p>
        </p:txBody>
      </p:sp>
      <p:sp>
        <p:nvSpPr>
          <p:cNvPr id="5" name="Freeform 5"/>
          <p:cNvSpPr/>
          <p:nvPr/>
        </p:nvSpPr>
        <p:spPr>
          <a:xfrm>
            <a:off x="9144000" y="9258300"/>
            <a:ext cx="4076270" cy="2863579"/>
          </a:xfrm>
          <a:custGeom>
            <a:avLst/>
            <a:gdLst/>
            <a:ahLst/>
            <a:cxnLst/>
            <a:rect l="l" t="t" r="r" b="b"/>
            <a:pathLst>
              <a:path w="4076270" h="2863579">
                <a:moveTo>
                  <a:pt x="0" y="0"/>
                </a:moveTo>
                <a:lnTo>
                  <a:pt x="4076270" y="0"/>
                </a:lnTo>
                <a:lnTo>
                  <a:pt x="4076270" y="2863579"/>
                </a:lnTo>
                <a:lnTo>
                  <a:pt x="0" y="2863579"/>
                </a:lnTo>
                <a:lnTo>
                  <a:pt x="0" y="0"/>
                </a:lnTo>
                <a:close/>
              </a:path>
            </a:pathLst>
          </a:custGeom>
          <a:blipFill>
            <a:blip r:embed="rId7">
              <a:extLst>
                <a:ext uri="{96DAC541-7B7A-43D3-8B79-37D633B846F1}">
                  <asvg:svgBlip xmlns:asvg="http://schemas.microsoft.com/office/drawing/2016/SVG/main" r:embed="rId8"/>
                </a:ext>
              </a:extLst>
            </a:blip>
            <a:stretch>
              <a:fillRect/>
            </a:stretch>
          </a:blipFill>
          <a:ln cap="sq">
            <a:noFill/>
            <a:prstDash val="solid"/>
            <a:miter/>
          </a:ln>
        </p:spPr>
        <p:txBody>
          <a:bodyPr/>
          <a:lstStyle/>
          <a:p>
            <a:endParaRPr lang="en-US"/>
          </a:p>
        </p:txBody>
      </p:sp>
      <p:sp>
        <p:nvSpPr>
          <p:cNvPr id="6" name="Freeform 6"/>
          <p:cNvSpPr/>
          <p:nvPr/>
        </p:nvSpPr>
        <p:spPr>
          <a:xfrm>
            <a:off x="5003948" y="-1890601"/>
            <a:ext cx="2892762" cy="2919301"/>
          </a:xfrm>
          <a:custGeom>
            <a:avLst/>
            <a:gdLst/>
            <a:ahLst/>
            <a:cxnLst/>
            <a:rect l="l" t="t" r="r" b="b"/>
            <a:pathLst>
              <a:path w="2892762" h="2919301">
                <a:moveTo>
                  <a:pt x="0" y="0"/>
                </a:moveTo>
                <a:lnTo>
                  <a:pt x="2892762" y="0"/>
                </a:lnTo>
                <a:lnTo>
                  <a:pt x="2892762" y="2919301"/>
                </a:lnTo>
                <a:lnTo>
                  <a:pt x="0" y="2919301"/>
                </a:lnTo>
                <a:lnTo>
                  <a:pt x="0" y="0"/>
                </a:lnTo>
                <a:close/>
              </a:path>
            </a:pathLst>
          </a:custGeom>
          <a:blipFill>
            <a:blip r:embed="rId9">
              <a:extLst>
                <a:ext uri="{96DAC541-7B7A-43D3-8B79-37D633B846F1}">
                  <asvg:svgBlip xmlns:asvg="http://schemas.microsoft.com/office/drawing/2016/SVG/main" r:embed="rId10"/>
                </a:ext>
              </a:extLst>
            </a:blip>
            <a:stretch>
              <a:fillRect/>
            </a:stretch>
          </a:blipFill>
          <a:ln cap="sq">
            <a:noFill/>
            <a:prstDash val="solid"/>
            <a:miter/>
          </a:ln>
        </p:spPr>
        <p:txBody>
          <a:bodyPr/>
          <a:lstStyle/>
          <a:p>
            <a:endParaRPr lang="en-US"/>
          </a:p>
        </p:txBody>
      </p:sp>
      <p:sp>
        <p:nvSpPr>
          <p:cNvPr id="7" name="Freeform 7"/>
          <p:cNvSpPr/>
          <p:nvPr/>
        </p:nvSpPr>
        <p:spPr>
          <a:xfrm rot="-5282649">
            <a:off x="16004285" y="265374"/>
            <a:ext cx="4017207" cy="1370872"/>
          </a:xfrm>
          <a:custGeom>
            <a:avLst/>
            <a:gdLst/>
            <a:ahLst/>
            <a:cxnLst/>
            <a:rect l="l" t="t" r="r" b="b"/>
            <a:pathLst>
              <a:path w="4017207" h="1370872">
                <a:moveTo>
                  <a:pt x="0" y="0"/>
                </a:moveTo>
                <a:lnTo>
                  <a:pt x="4017207" y="0"/>
                </a:lnTo>
                <a:lnTo>
                  <a:pt x="4017207" y="1370872"/>
                </a:lnTo>
                <a:lnTo>
                  <a:pt x="0" y="1370872"/>
                </a:lnTo>
                <a:lnTo>
                  <a:pt x="0" y="0"/>
                </a:lnTo>
                <a:close/>
              </a:path>
            </a:pathLst>
          </a:custGeom>
          <a:blipFill>
            <a:blip r:embed="rId11">
              <a:extLst>
                <a:ext uri="{96DAC541-7B7A-43D3-8B79-37D633B846F1}">
                  <asvg:svgBlip xmlns:asvg="http://schemas.microsoft.com/office/drawing/2016/SVG/main" r:embed="rId12"/>
                </a:ext>
              </a:extLst>
            </a:blip>
            <a:stretch>
              <a:fillRect/>
            </a:stretch>
          </a:blipFill>
          <a:ln cap="sq">
            <a:noFill/>
            <a:prstDash val="solid"/>
            <a:miter/>
          </a:ln>
        </p:spPr>
        <p:txBody>
          <a:bodyPr/>
          <a:lstStyle/>
          <a:p>
            <a:endParaRPr lang="en-US"/>
          </a:p>
        </p:txBody>
      </p:sp>
      <p:sp>
        <p:nvSpPr>
          <p:cNvPr id="8" name="TextBox 8"/>
          <p:cNvSpPr txBox="1"/>
          <p:nvPr/>
        </p:nvSpPr>
        <p:spPr>
          <a:xfrm>
            <a:off x="1504950" y="2345718"/>
            <a:ext cx="7848753" cy="2282190"/>
          </a:xfrm>
          <a:prstGeom prst="rect">
            <a:avLst/>
          </a:prstGeom>
        </p:spPr>
        <p:txBody>
          <a:bodyPr lIns="0" tIns="0" rIns="0" bIns="0" rtlCol="0" anchor="t">
            <a:spAutoFit/>
          </a:bodyPr>
          <a:lstStyle/>
          <a:p>
            <a:pPr algn="l">
              <a:lnSpc>
                <a:spcPts val="8730"/>
              </a:lnSpc>
            </a:pPr>
            <a:r>
              <a:rPr lang="en-US" sz="9000" b="1">
                <a:solidFill>
                  <a:srgbClr val="000000"/>
                </a:solidFill>
                <a:latin typeface="DM Sans Bold"/>
                <a:ea typeface="DM Sans Bold"/>
                <a:cs typeface="DM Sans Bold"/>
                <a:sym typeface="DM Sans Bold"/>
              </a:rPr>
              <a:t>Table of Content</a:t>
            </a:r>
          </a:p>
        </p:txBody>
      </p:sp>
      <p:sp>
        <p:nvSpPr>
          <p:cNvPr id="9" name="TextBox 9"/>
          <p:cNvSpPr txBox="1"/>
          <p:nvPr/>
        </p:nvSpPr>
        <p:spPr>
          <a:xfrm>
            <a:off x="7334246" y="2069493"/>
            <a:ext cx="9925054" cy="5694045"/>
          </a:xfrm>
          <a:prstGeom prst="rect">
            <a:avLst/>
          </a:prstGeom>
        </p:spPr>
        <p:txBody>
          <a:bodyPr lIns="0" tIns="0" rIns="0" bIns="0" rtlCol="0" anchor="t">
            <a:spAutoFit/>
          </a:bodyPr>
          <a:lstStyle/>
          <a:p>
            <a:pPr marL="1209041" lvl="1" indent="-604520" algn="l">
              <a:lnSpc>
                <a:spcPts val="7560"/>
              </a:lnSpc>
              <a:buAutoNum type="arabicPeriod"/>
            </a:pPr>
            <a:r>
              <a:rPr lang="en-US" sz="5600" spc="336">
                <a:solidFill>
                  <a:srgbClr val="000000"/>
                </a:solidFill>
                <a:latin typeface="Public Sans"/>
                <a:ea typeface="Public Sans"/>
                <a:cs typeface="Public Sans"/>
                <a:sym typeface="Public Sans"/>
              </a:rPr>
              <a:t>Giới thiệu bài toán và dataset</a:t>
            </a:r>
          </a:p>
          <a:p>
            <a:pPr marL="1209041" lvl="1" indent="-604520" algn="l">
              <a:lnSpc>
                <a:spcPts val="7560"/>
              </a:lnSpc>
              <a:buAutoNum type="arabicPeriod"/>
            </a:pPr>
            <a:r>
              <a:rPr lang="en-US" sz="5600" spc="336">
                <a:solidFill>
                  <a:srgbClr val="000000"/>
                </a:solidFill>
                <a:latin typeface="Public Sans"/>
                <a:ea typeface="Public Sans"/>
                <a:cs typeface="Public Sans"/>
                <a:sym typeface="Public Sans"/>
              </a:rPr>
              <a:t>Semantic Search bằng CLIP</a:t>
            </a:r>
          </a:p>
          <a:p>
            <a:pPr marL="1209041" lvl="1" indent="-604520" algn="l">
              <a:lnSpc>
                <a:spcPts val="7560"/>
              </a:lnSpc>
              <a:buAutoNum type="arabicPeriod"/>
            </a:pPr>
            <a:r>
              <a:rPr lang="en-US" sz="5600" spc="336">
                <a:solidFill>
                  <a:srgbClr val="000000"/>
                </a:solidFill>
                <a:latin typeface="Public Sans"/>
                <a:ea typeface="Public Sans"/>
                <a:cs typeface="Public Sans"/>
                <a:sym typeface="Public Sans"/>
              </a:rPr>
              <a:t>Truy vấn bằng FAISS</a:t>
            </a:r>
          </a:p>
          <a:p>
            <a:pPr marL="1209041" lvl="1" indent="-604520" algn="l">
              <a:lnSpc>
                <a:spcPts val="7560"/>
              </a:lnSpc>
              <a:spcBef>
                <a:spcPct val="0"/>
              </a:spcBef>
              <a:buAutoNum type="arabicPeriod"/>
            </a:pPr>
            <a:r>
              <a:rPr lang="en-US" sz="5600" spc="336">
                <a:solidFill>
                  <a:srgbClr val="000000"/>
                </a:solidFill>
                <a:latin typeface="Public Sans"/>
                <a:ea typeface="Public Sans"/>
                <a:cs typeface="Public Sans"/>
                <a:sym typeface="Public Sans"/>
              </a:rPr>
              <a:t>Demo</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4000500" y="-4000500"/>
            <a:ext cx="10287000" cy="18288000"/>
          </a:xfrm>
          <a:custGeom>
            <a:avLst/>
            <a:gdLst/>
            <a:ahLst/>
            <a:cxnLst/>
            <a:rect l="l" t="t" r="r" b="b"/>
            <a:pathLst>
              <a:path w="10287000" h="18288000">
                <a:moveTo>
                  <a:pt x="10287000" y="0"/>
                </a:moveTo>
                <a:lnTo>
                  <a:pt x="10287000" y="18288000"/>
                </a:lnTo>
                <a:lnTo>
                  <a:pt x="0" y="18288000"/>
                </a:lnTo>
                <a:lnTo>
                  <a:pt x="0" y="0"/>
                </a:lnTo>
                <a:lnTo>
                  <a:pt x="10287000" y="0"/>
                </a:lnTo>
                <a:close/>
              </a:path>
            </a:pathLst>
          </a:custGeom>
          <a:blipFill>
            <a:blip r:embed="rId2"/>
            <a:stretch>
              <a:fillRect l="-71867" t="-3631" r="-74156" b="-2747"/>
            </a:stretch>
          </a:blipFill>
        </p:spPr>
        <p:txBody>
          <a:bodyPr/>
          <a:lstStyle/>
          <a:p>
            <a:endParaRPr lang="en-US"/>
          </a:p>
        </p:txBody>
      </p:sp>
      <p:sp>
        <p:nvSpPr>
          <p:cNvPr id="3" name="TextBox 3"/>
          <p:cNvSpPr txBox="1"/>
          <p:nvPr/>
        </p:nvSpPr>
        <p:spPr>
          <a:xfrm>
            <a:off x="1028700" y="808311"/>
            <a:ext cx="7025086" cy="2282190"/>
          </a:xfrm>
          <a:prstGeom prst="rect">
            <a:avLst/>
          </a:prstGeom>
        </p:spPr>
        <p:txBody>
          <a:bodyPr lIns="0" tIns="0" rIns="0" bIns="0" rtlCol="0" anchor="t">
            <a:spAutoFit/>
          </a:bodyPr>
          <a:lstStyle/>
          <a:p>
            <a:pPr algn="l">
              <a:lnSpc>
                <a:spcPts val="8730"/>
              </a:lnSpc>
            </a:pPr>
            <a:r>
              <a:rPr lang="en-US" sz="9000" b="1">
                <a:solidFill>
                  <a:srgbClr val="000000"/>
                </a:solidFill>
                <a:latin typeface="DM Sans Bold"/>
                <a:ea typeface="DM Sans Bold"/>
                <a:cs typeface="DM Sans Bold"/>
                <a:sym typeface="DM Sans Bold"/>
              </a:rPr>
              <a:t>Giới thiệu bài toán</a:t>
            </a:r>
          </a:p>
        </p:txBody>
      </p:sp>
      <p:sp>
        <p:nvSpPr>
          <p:cNvPr id="4" name="TextBox 4"/>
          <p:cNvSpPr txBox="1"/>
          <p:nvPr/>
        </p:nvSpPr>
        <p:spPr>
          <a:xfrm>
            <a:off x="1028700" y="3237645"/>
            <a:ext cx="12910484" cy="1343025"/>
          </a:xfrm>
          <a:prstGeom prst="rect">
            <a:avLst/>
          </a:prstGeom>
        </p:spPr>
        <p:txBody>
          <a:bodyPr lIns="0" tIns="0" rIns="0" bIns="0" rtlCol="0" anchor="t">
            <a:spAutoFit/>
          </a:bodyPr>
          <a:lstStyle/>
          <a:p>
            <a:pPr marL="0" lvl="0" indent="0" algn="l">
              <a:lnSpc>
                <a:spcPts val="5399"/>
              </a:lnSpc>
              <a:spcBef>
                <a:spcPct val="0"/>
              </a:spcBef>
            </a:pPr>
            <a:r>
              <a:rPr lang="en-US" sz="3999" spc="239">
                <a:solidFill>
                  <a:srgbClr val="000000"/>
                </a:solidFill>
                <a:latin typeface="Public Sans"/>
                <a:ea typeface="Public Sans"/>
                <a:cs typeface="Public Sans"/>
                <a:sym typeface="Public Sans"/>
              </a:rPr>
              <a:t>Truy vấn các caption của ảnh trên tập dataset COCO, dựa vào query text hoặc image</a:t>
            </a:r>
          </a:p>
        </p:txBody>
      </p:sp>
      <p:sp>
        <p:nvSpPr>
          <p:cNvPr id="5" name="Freeform 5"/>
          <p:cNvSpPr/>
          <p:nvPr/>
        </p:nvSpPr>
        <p:spPr>
          <a:xfrm>
            <a:off x="-436580" y="-1072630"/>
            <a:ext cx="4224468" cy="2645573"/>
          </a:xfrm>
          <a:custGeom>
            <a:avLst/>
            <a:gdLst/>
            <a:ahLst/>
            <a:cxnLst/>
            <a:rect l="l" t="t" r="r" b="b"/>
            <a:pathLst>
              <a:path w="4224468" h="2645573">
                <a:moveTo>
                  <a:pt x="0" y="0"/>
                </a:moveTo>
                <a:lnTo>
                  <a:pt x="4224468" y="0"/>
                </a:lnTo>
                <a:lnTo>
                  <a:pt x="4224468" y="2645573"/>
                </a:lnTo>
                <a:lnTo>
                  <a:pt x="0" y="2645573"/>
                </a:lnTo>
                <a:lnTo>
                  <a:pt x="0" y="0"/>
                </a:lnTo>
                <a:close/>
              </a:path>
            </a:pathLst>
          </a:custGeom>
          <a:blipFill>
            <a:blip r:embed="rId3">
              <a:extLst>
                <a:ext uri="{96DAC541-7B7A-43D3-8B79-37D633B846F1}">
                  <asvg:svgBlip xmlns:asvg="http://schemas.microsoft.com/office/drawing/2016/SVG/main" r:embed="rId4"/>
                </a:ext>
              </a:extLst>
            </a:blip>
            <a:stretch>
              <a:fillRect/>
            </a:stretch>
          </a:blipFill>
          <a:ln cap="sq">
            <a:noFill/>
            <a:prstDash val="solid"/>
            <a:miter/>
          </a:ln>
        </p:spPr>
        <p:txBody>
          <a:bodyPr/>
          <a:lstStyle/>
          <a:p>
            <a:endParaRPr lang="en-US"/>
          </a:p>
        </p:txBody>
      </p:sp>
      <p:sp>
        <p:nvSpPr>
          <p:cNvPr id="6" name="Freeform 6"/>
          <p:cNvSpPr/>
          <p:nvPr/>
        </p:nvSpPr>
        <p:spPr>
          <a:xfrm rot="-5400000">
            <a:off x="15812919" y="8457221"/>
            <a:ext cx="2892762" cy="2919301"/>
          </a:xfrm>
          <a:custGeom>
            <a:avLst/>
            <a:gdLst/>
            <a:ahLst/>
            <a:cxnLst/>
            <a:rect l="l" t="t" r="r" b="b"/>
            <a:pathLst>
              <a:path w="2892762" h="2919301">
                <a:moveTo>
                  <a:pt x="0" y="0"/>
                </a:moveTo>
                <a:lnTo>
                  <a:pt x="2892762" y="0"/>
                </a:lnTo>
                <a:lnTo>
                  <a:pt x="2892762" y="2919301"/>
                </a:lnTo>
                <a:lnTo>
                  <a:pt x="0" y="2919301"/>
                </a:lnTo>
                <a:lnTo>
                  <a:pt x="0" y="0"/>
                </a:lnTo>
                <a:close/>
              </a:path>
            </a:pathLst>
          </a:custGeom>
          <a:blipFill>
            <a:blip r:embed="rId5">
              <a:extLst>
                <a:ext uri="{96DAC541-7B7A-43D3-8B79-37D633B846F1}">
                  <asvg:svgBlip xmlns:asvg="http://schemas.microsoft.com/office/drawing/2016/SVG/main" r:embed="rId6"/>
                </a:ext>
              </a:extLst>
            </a:blip>
            <a:stretch>
              <a:fillRect/>
            </a:stretch>
          </a:blipFill>
          <a:ln cap="sq">
            <a:noFill/>
            <a:prstDash val="solid"/>
            <a:miter/>
          </a:ln>
        </p:spPr>
        <p:txBody>
          <a:bodyPr/>
          <a:lstStyle/>
          <a:p>
            <a:endParaRPr lang="en-US"/>
          </a:p>
        </p:txBody>
      </p:sp>
      <p:sp>
        <p:nvSpPr>
          <p:cNvPr id="7" name="Freeform 7"/>
          <p:cNvSpPr/>
          <p:nvPr/>
        </p:nvSpPr>
        <p:spPr>
          <a:xfrm>
            <a:off x="15262955" y="-1072630"/>
            <a:ext cx="1996345" cy="2149497"/>
          </a:xfrm>
          <a:custGeom>
            <a:avLst/>
            <a:gdLst/>
            <a:ahLst/>
            <a:cxnLst/>
            <a:rect l="l" t="t" r="r" b="b"/>
            <a:pathLst>
              <a:path w="1996345" h="2149497">
                <a:moveTo>
                  <a:pt x="0" y="0"/>
                </a:moveTo>
                <a:lnTo>
                  <a:pt x="1996345" y="0"/>
                </a:lnTo>
                <a:lnTo>
                  <a:pt x="1996345" y="2149497"/>
                </a:lnTo>
                <a:lnTo>
                  <a:pt x="0" y="2149497"/>
                </a:lnTo>
                <a:lnTo>
                  <a:pt x="0" y="0"/>
                </a:lnTo>
                <a:close/>
              </a:path>
            </a:pathLst>
          </a:custGeom>
          <a:blipFill>
            <a:blip r:embed="rId7">
              <a:extLst>
                <a:ext uri="{96DAC541-7B7A-43D3-8B79-37D633B846F1}">
                  <asvg:svgBlip xmlns:asvg="http://schemas.microsoft.com/office/drawing/2016/SVG/main" r:embed="rId8"/>
                </a:ext>
              </a:extLst>
            </a:blip>
            <a:stretch>
              <a:fillRect/>
            </a:stretch>
          </a:blipFill>
          <a:ln cap="sq">
            <a:noFill/>
            <a:prstDash val="solid"/>
            <a:miter/>
          </a:ln>
        </p:spPr>
        <p:txBody>
          <a:bodyPr/>
          <a:lstStyle/>
          <a:p>
            <a:endParaRPr lang="en-US"/>
          </a:p>
        </p:txBody>
      </p:sp>
      <p:sp>
        <p:nvSpPr>
          <p:cNvPr id="8" name="TextBox 8"/>
          <p:cNvSpPr txBox="1"/>
          <p:nvPr/>
        </p:nvSpPr>
        <p:spPr>
          <a:xfrm>
            <a:off x="1028700" y="5732192"/>
            <a:ext cx="11793877" cy="2019300"/>
          </a:xfrm>
          <a:prstGeom prst="rect">
            <a:avLst/>
          </a:prstGeom>
        </p:spPr>
        <p:txBody>
          <a:bodyPr lIns="0" tIns="0" rIns="0" bIns="0" rtlCol="0" anchor="t">
            <a:spAutoFit/>
          </a:bodyPr>
          <a:lstStyle/>
          <a:p>
            <a:pPr algn="l">
              <a:lnSpc>
                <a:spcPts val="5399"/>
              </a:lnSpc>
            </a:pPr>
            <a:r>
              <a:rPr lang="en-US" sz="3999" spc="239">
                <a:solidFill>
                  <a:srgbClr val="000000"/>
                </a:solidFill>
                <a:latin typeface="Public Sans"/>
                <a:ea typeface="Public Sans"/>
                <a:cs typeface="Public Sans"/>
                <a:sym typeface="Public Sans"/>
              </a:rPr>
              <a:t>Ứng dụng:</a:t>
            </a:r>
          </a:p>
          <a:p>
            <a:pPr marL="863599" lvl="1" indent="-431800" algn="l">
              <a:lnSpc>
                <a:spcPts val="5399"/>
              </a:lnSpc>
              <a:buFont typeface="Arial"/>
              <a:buChar char="•"/>
            </a:pPr>
            <a:r>
              <a:rPr lang="en-US" sz="3999" spc="239">
                <a:solidFill>
                  <a:srgbClr val="000000"/>
                </a:solidFill>
                <a:latin typeface="Public Sans"/>
                <a:ea typeface="Public Sans"/>
                <a:cs typeface="Public Sans"/>
                <a:sym typeface="Public Sans"/>
              </a:rPr>
              <a:t>Công cụ tìm kiếm nhanh</a:t>
            </a:r>
          </a:p>
          <a:p>
            <a:pPr marL="863599" lvl="1" indent="-431800" algn="l">
              <a:lnSpc>
                <a:spcPts val="5399"/>
              </a:lnSpc>
              <a:spcBef>
                <a:spcPct val="0"/>
              </a:spcBef>
              <a:buFont typeface="Arial"/>
              <a:buChar char="•"/>
            </a:pPr>
            <a:r>
              <a:rPr lang="en-US" sz="3999" spc="239">
                <a:solidFill>
                  <a:srgbClr val="000000"/>
                </a:solidFill>
                <a:latin typeface="Public Sans"/>
                <a:ea typeface="Public Sans"/>
                <a:cs typeface="Public Sans"/>
                <a:sym typeface="Public Sans"/>
              </a:rPr>
              <a:t>Hệ thống đề xuất nội dung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4000500" y="-4000500"/>
            <a:ext cx="10287000" cy="18288000"/>
          </a:xfrm>
          <a:custGeom>
            <a:avLst/>
            <a:gdLst/>
            <a:ahLst/>
            <a:cxnLst/>
            <a:rect l="l" t="t" r="r" b="b"/>
            <a:pathLst>
              <a:path w="10287000" h="18288000">
                <a:moveTo>
                  <a:pt x="10287000" y="0"/>
                </a:moveTo>
                <a:lnTo>
                  <a:pt x="10287000" y="18288000"/>
                </a:lnTo>
                <a:lnTo>
                  <a:pt x="0" y="18288000"/>
                </a:lnTo>
                <a:lnTo>
                  <a:pt x="0" y="0"/>
                </a:lnTo>
                <a:lnTo>
                  <a:pt x="10287000" y="0"/>
                </a:lnTo>
                <a:close/>
              </a:path>
            </a:pathLst>
          </a:custGeom>
          <a:blipFill>
            <a:blip r:embed="rId2"/>
            <a:stretch>
              <a:fillRect l="-71867" t="-3631" r="-74156" b="-2747"/>
            </a:stretch>
          </a:blipFill>
        </p:spPr>
        <p:txBody>
          <a:bodyPr/>
          <a:lstStyle/>
          <a:p>
            <a:endParaRPr lang="en-US"/>
          </a:p>
        </p:txBody>
      </p:sp>
      <p:sp>
        <p:nvSpPr>
          <p:cNvPr id="3" name="Freeform 3"/>
          <p:cNvSpPr/>
          <p:nvPr/>
        </p:nvSpPr>
        <p:spPr>
          <a:xfrm>
            <a:off x="-2329398" y="9017983"/>
            <a:ext cx="4899948" cy="3344214"/>
          </a:xfrm>
          <a:custGeom>
            <a:avLst/>
            <a:gdLst/>
            <a:ahLst/>
            <a:cxnLst/>
            <a:rect l="l" t="t" r="r" b="b"/>
            <a:pathLst>
              <a:path w="4899948" h="3344214">
                <a:moveTo>
                  <a:pt x="0" y="0"/>
                </a:moveTo>
                <a:lnTo>
                  <a:pt x="4899947" y="0"/>
                </a:lnTo>
                <a:lnTo>
                  <a:pt x="4899947" y="3344214"/>
                </a:lnTo>
                <a:lnTo>
                  <a:pt x="0" y="334421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4" name="Freeform 4"/>
          <p:cNvSpPr/>
          <p:nvPr/>
        </p:nvSpPr>
        <p:spPr>
          <a:xfrm>
            <a:off x="5847044" y="9882374"/>
            <a:ext cx="3296956" cy="809253"/>
          </a:xfrm>
          <a:custGeom>
            <a:avLst/>
            <a:gdLst/>
            <a:ahLst/>
            <a:cxnLst/>
            <a:rect l="l" t="t" r="r" b="b"/>
            <a:pathLst>
              <a:path w="3296956" h="809253">
                <a:moveTo>
                  <a:pt x="0" y="0"/>
                </a:moveTo>
                <a:lnTo>
                  <a:pt x="3296956" y="0"/>
                </a:lnTo>
                <a:lnTo>
                  <a:pt x="3296956" y="809252"/>
                </a:lnTo>
                <a:lnTo>
                  <a:pt x="0" y="80925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5" name="Freeform 5"/>
          <p:cNvSpPr/>
          <p:nvPr/>
        </p:nvSpPr>
        <p:spPr>
          <a:xfrm>
            <a:off x="14494772" y="9017983"/>
            <a:ext cx="4427843" cy="3481392"/>
          </a:xfrm>
          <a:custGeom>
            <a:avLst/>
            <a:gdLst/>
            <a:ahLst/>
            <a:cxnLst/>
            <a:rect l="l" t="t" r="r" b="b"/>
            <a:pathLst>
              <a:path w="4427843" h="3481392">
                <a:moveTo>
                  <a:pt x="0" y="0"/>
                </a:moveTo>
                <a:lnTo>
                  <a:pt x="4427843" y="0"/>
                </a:lnTo>
                <a:lnTo>
                  <a:pt x="4427843" y="3481391"/>
                </a:lnTo>
                <a:lnTo>
                  <a:pt x="0" y="3481391"/>
                </a:lnTo>
                <a:lnTo>
                  <a:pt x="0" y="0"/>
                </a:lnTo>
                <a:close/>
              </a:path>
            </a:pathLst>
          </a:custGeom>
          <a:blipFill>
            <a:blip r:embed="rId7">
              <a:extLst>
                <a:ext uri="{96DAC541-7B7A-43D3-8B79-37D633B846F1}">
                  <asvg:svgBlip xmlns:asvg="http://schemas.microsoft.com/office/drawing/2016/SVG/main" r:embed="rId8"/>
                </a:ext>
              </a:extLst>
            </a:blip>
            <a:stretch>
              <a:fillRect/>
            </a:stretch>
          </a:blipFill>
          <a:ln cap="sq">
            <a:noFill/>
            <a:prstDash val="solid"/>
            <a:miter/>
          </a:ln>
        </p:spPr>
        <p:txBody>
          <a:bodyPr/>
          <a:lstStyle/>
          <a:p>
            <a:endParaRPr lang="en-US"/>
          </a:p>
        </p:txBody>
      </p:sp>
      <p:sp>
        <p:nvSpPr>
          <p:cNvPr id="6" name="Freeform 6"/>
          <p:cNvSpPr/>
          <p:nvPr/>
        </p:nvSpPr>
        <p:spPr>
          <a:xfrm>
            <a:off x="10138935" y="9258300"/>
            <a:ext cx="4076270" cy="2863579"/>
          </a:xfrm>
          <a:custGeom>
            <a:avLst/>
            <a:gdLst/>
            <a:ahLst/>
            <a:cxnLst/>
            <a:rect l="l" t="t" r="r" b="b"/>
            <a:pathLst>
              <a:path w="4076270" h="2863579">
                <a:moveTo>
                  <a:pt x="0" y="0"/>
                </a:moveTo>
                <a:lnTo>
                  <a:pt x="4076270" y="0"/>
                </a:lnTo>
                <a:lnTo>
                  <a:pt x="4076270" y="2863579"/>
                </a:lnTo>
                <a:lnTo>
                  <a:pt x="0" y="2863579"/>
                </a:lnTo>
                <a:lnTo>
                  <a:pt x="0" y="0"/>
                </a:lnTo>
                <a:close/>
              </a:path>
            </a:pathLst>
          </a:custGeom>
          <a:blipFill>
            <a:blip r:embed="rId9">
              <a:extLst>
                <a:ext uri="{96DAC541-7B7A-43D3-8B79-37D633B846F1}">
                  <asvg:svgBlip xmlns:asvg="http://schemas.microsoft.com/office/drawing/2016/SVG/main" r:embed="rId10"/>
                </a:ext>
              </a:extLst>
            </a:blip>
            <a:stretch>
              <a:fillRect/>
            </a:stretch>
          </a:blipFill>
          <a:ln cap="sq">
            <a:noFill/>
            <a:prstDash val="solid"/>
            <a:miter/>
          </a:ln>
        </p:spPr>
        <p:txBody>
          <a:bodyPr/>
          <a:lstStyle/>
          <a:p>
            <a:endParaRPr lang="en-US"/>
          </a:p>
        </p:txBody>
      </p:sp>
      <p:sp>
        <p:nvSpPr>
          <p:cNvPr id="7" name="Freeform 7"/>
          <p:cNvSpPr/>
          <p:nvPr/>
        </p:nvSpPr>
        <p:spPr>
          <a:xfrm rot="4747568">
            <a:off x="-2972342" y="3665317"/>
            <a:ext cx="4896097" cy="2735694"/>
          </a:xfrm>
          <a:custGeom>
            <a:avLst/>
            <a:gdLst/>
            <a:ahLst/>
            <a:cxnLst/>
            <a:rect l="l" t="t" r="r" b="b"/>
            <a:pathLst>
              <a:path w="4896097" h="2735694">
                <a:moveTo>
                  <a:pt x="0" y="0"/>
                </a:moveTo>
                <a:lnTo>
                  <a:pt x="4896097" y="0"/>
                </a:lnTo>
                <a:lnTo>
                  <a:pt x="4896097" y="2735694"/>
                </a:lnTo>
                <a:lnTo>
                  <a:pt x="0" y="2735694"/>
                </a:lnTo>
                <a:lnTo>
                  <a:pt x="0" y="0"/>
                </a:lnTo>
                <a:close/>
              </a:path>
            </a:pathLst>
          </a:custGeom>
          <a:blipFill>
            <a:blip r:embed="rId11">
              <a:extLst>
                <a:ext uri="{96DAC541-7B7A-43D3-8B79-37D633B846F1}">
                  <asvg:svgBlip xmlns:asvg="http://schemas.microsoft.com/office/drawing/2016/SVG/main" r:embed="rId12"/>
                </a:ext>
              </a:extLst>
            </a:blip>
            <a:stretch>
              <a:fillRect/>
            </a:stretch>
          </a:blipFill>
          <a:ln cap="sq">
            <a:noFill/>
            <a:prstDash val="solid"/>
            <a:miter/>
          </a:ln>
        </p:spPr>
        <p:txBody>
          <a:bodyPr/>
          <a:lstStyle/>
          <a:p>
            <a:endParaRPr lang="en-US"/>
          </a:p>
        </p:txBody>
      </p:sp>
      <p:sp>
        <p:nvSpPr>
          <p:cNvPr id="8" name="Freeform 8"/>
          <p:cNvSpPr/>
          <p:nvPr/>
        </p:nvSpPr>
        <p:spPr>
          <a:xfrm>
            <a:off x="17494810" y="2371030"/>
            <a:ext cx="3575541" cy="3575541"/>
          </a:xfrm>
          <a:custGeom>
            <a:avLst/>
            <a:gdLst/>
            <a:ahLst/>
            <a:cxnLst/>
            <a:rect l="l" t="t" r="r" b="b"/>
            <a:pathLst>
              <a:path w="3575541" h="3575541">
                <a:moveTo>
                  <a:pt x="0" y="0"/>
                </a:moveTo>
                <a:lnTo>
                  <a:pt x="3575541" y="0"/>
                </a:lnTo>
                <a:lnTo>
                  <a:pt x="3575541" y="3575541"/>
                </a:lnTo>
                <a:lnTo>
                  <a:pt x="0" y="3575541"/>
                </a:lnTo>
                <a:lnTo>
                  <a:pt x="0" y="0"/>
                </a:lnTo>
                <a:close/>
              </a:path>
            </a:pathLst>
          </a:custGeom>
          <a:blipFill>
            <a:blip r:embed="rId13">
              <a:extLst>
                <a:ext uri="{96DAC541-7B7A-43D3-8B79-37D633B846F1}">
                  <asvg:svgBlip xmlns:asvg="http://schemas.microsoft.com/office/drawing/2016/SVG/main" r:embed="rId14"/>
                </a:ext>
              </a:extLst>
            </a:blip>
            <a:stretch>
              <a:fillRect/>
            </a:stretch>
          </a:blipFill>
          <a:ln cap="sq">
            <a:noFill/>
            <a:prstDash val="solid"/>
            <a:miter/>
          </a:ln>
        </p:spPr>
        <p:txBody>
          <a:bodyPr/>
          <a:lstStyle/>
          <a:p>
            <a:endParaRPr lang="en-US"/>
          </a:p>
        </p:txBody>
      </p:sp>
      <p:sp>
        <p:nvSpPr>
          <p:cNvPr id="9" name="Freeform 9"/>
          <p:cNvSpPr/>
          <p:nvPr/>
        </p:nvSpPr>
        <p:spPr>
          <a:xfrm>
            <a:off x="2570549" y="9496827"/>
            <a:ext cx="2587020" cy="2386526"/>
          </a:xfrm>
          <a:custGeom>
            <a:avLst/>
            <a:gdLst/>
            <a:ahLst/>
            <a:cxnLst/>
            <a:rect l="l" t="t" r="r" b="b"/>
            <a:pathLst>
              <a:path w="2587020" h="2386526">
                <a:moveTo>
                  <a:pt x="0" y="0"/>
                </a:moveTo>
                <a:lnTo>
                  <a:pt x="2587020" y="0"/>
                </a:lnTo>
                <a:lnTo>
                  <a:pt x="2587020" y="2386526"/>
                </a:lnTo>
                <a:lnTo>
                  <a:pt x="0" y="2386526"/>
                </a:lnTo>
                <a:lnTo>
                  <a:pt x="0" y="0"/>
                </a:lnTo>
                <a:close/>
              </a:path>
            </a:pathLst>
          </a:custGeom>
          <a:blipFill>
            <a:blip r:embed="rId15">
              <a:extLst>
                <a:ext uri="{96DAC541-7B7A-43D3-8B79-37D633B846F1}">
                  <asvg:svgBlip xmlns:asvg="http://schemas.microsoft.com/office/drawing/2016/SVG/main" r:embed="rId16"/>
                </a:ext>
              </a:extLst>
            </a:blip>
            <a:stretch>
              <a:fillRect/>
            </a:stretch>
          </a:blipFill>
          <a:ln cap="sq">
            <a:noFill/>
            <a:prstDash val="solid"/>
            <a:miter/>
          </a:ln>
        </p:spPr>
        <p:txBody>
          <a:bodyPr/>
          <a:lstStyle/>
          <a:p>
            <a:endParaRPr lang="en-US"/>
          </a:p>
        </p:txBody>
      </p:sp>
      <p:sp>
        <p:nvSpPr>
          <p:cNvPr id="10" name="Freeform 10"/>
          <p:cNvSpPr/>
          <p:nvPr/>
        </p:nvSpPr>
        <p:spPr>
          <a:xfrm rot="-5282649">
            <a:off x="16596506" y="6970869"/>
            <a:ext cx="3382987" cy="1154444"/>
          </a:xfrm>
          <a:custGeom>
            <a:avLst/>
            <a:gdLst/>
            <a:ahLst/>
            <a:cxnLst/>
            <a:rect l="l" t="t" r="r" b="b"/>
            <a:pathLst>
              <a:path w="3382987" h="1154444">
                <a:moveTo>
                  <a:pt x="0" y="0"/>
                </a:moveTo>
                <a:lnTo>
                  <a:pt x="3382988" y="0"/>
                </a:lnTo>
                <a:lnTo>
                  <a:pt x="3382988" y="1154445"/>
                </a:lnTo>
                <a:lnTo>
                  <a:pt x="0" y="1154445"/>
                </a:lnTo>
                <a:lnTo>
                  <a:pt x="0" y="0"/>
                </a:lnTo>
                <a:close/>
              </a:path>
            </a:pathLst>
          </a:custGeom>
          <a:blipFill>
            <a:blip r:embed="rId17">
              <a:extLst>
                <a:ext uri="{96DAC541-7B7A-43D3-8B79-37D633B846F1}">
                  <asvg:svgBlip xmlns:asvg="http://schemas.microsoft.com/office/drawing/2016/SVG/main" r:embed="rId18"/>
                </a:ext>
              </a:extLst>
            </a:blip>
            <a:stretch>
              <a:fillRect/>
            </a:stretch>
          </a:blipFill>
          <a:ln cap="sq">
            <a:noFill/>
            <a:prstDash val="solid"/>
            <a:miter/>
          </a:ln>
        </p:spPr>
        <p:txBody>
          <a:bodyPr/>
          <a:lstStyle/>
          <a:p>
            <a:endParaRPr lang="en-US"/>
          </a:p>
        </p:txBody>
      </p:sp>
      <p:sp>
        <p:nvSpPr>
          <p:cNvPr id="11" name="Freeform 11"/>
          <p:cNvSpPr/>
          <p:nvPr/>
        </p:nvSpPr>
        <p:spPr>
          <a:xfrm>
            <a:off x="1028700" y="7811"/>
            <a:ext cx="12917117" cy="4779333"/>
          </a:xfrm>
          <a:custGeom>
            <a:avLst/>
            <a:gdLst/>
            <a:ahLst/>
            <a:cxnLst/>
            <a:rect l="l" t="t" r="r" b="b"/>
            <a:pathLst>
              <a:path w="12917117" h="4779333">
                <a:moveTo>
                  <a:pt x="0" y="0"/>
                </a:moveTo>
                <a:lnTo>
                  <a:pt x="12917117" y="0"/>
                </a:lnTo>
                <a:lnTo>
                  <a:pt x="12917117" y="4779334"/>
                </a:lnTo>
                <a:lnTo>
                  <a:pt x="0" y="4779334"/>
                </a:lnTo>
                <a:lnTo>
                  <a:pt x="0" y="0"/>
                </a:lnTo>
                <a:close/>
              </a:path>
            </a:pathLst>
          </a:custGeom>
          <a:blipFill>
            <a:blip r:embed="rId19"/>
            <a:stretch>
              <a:fillRect/>
            </a:stretch>
          </a:blipFill>
        </p:spPr>
        <p:txBody>
          <a:bodyPr/>
          <a:lstStyle/>
          <a:p>
            <a:endParaRPr lang="en-US"/>
          </a:p>
        </p:txBody>
      </p:sp>
      <p:sp>
        <p:nvSpPr>
          <p:cNvPr id="12" name="TextBox 12"/>
          <p:cNvSpPr txBox="1"/>
          <p:nvPr/>
        </p:nvSpPr>
        <p:spPr>
          <a:xfrm>
            <a:off x="1047750" y="4975656"/>
            <a:ext cx="14234255" cy="4339590"/>
          </a:xfrm>
          <a:prstGeom prst="rect">
            <a:avLst/>
          </a:prstGeom>
        </p:spPr>
        <p:txBody>
          <a:bodyPr lIns="0" tIns="0" rIns="0" bIns="0" rtlCol="0" anchor="t">
            <a:spAutoFit/>
          </a:bodyPr>
          <a:lstStyle/>
          <a:p>
            <a:pPr algn="l">
              <a:lnSpc>
                <a:spcPts val="4320"/>
              </a:lnSpc>
            </a:pPr>
            <a:r>
              <a:rPr lang="en-US" sz="3200" spc="192">
                <a:solidFill>
                  <a:srgbClr val="000000"/>
                </a:solidFill>
                <a:latin typeface="Public Sans"/>
                <a:ea typeface="Public Sans"/>
                <a:cs typeface="Public Sans"/>
                <a:sym typeface="Public Sans"/>
              </a:rPr>
              <a:t>Workflow:</a:t>
            </a:r>
          </a:p>
          <a:p>
            <a:pPr marL="690881" lvl="1" indent="-345440" algn="l">
              <a:lnSpc>
                <a:spcPts val="4320"/>
              </a:lnSpc>
              <a:buFont typeface="Arial"/>
              <a:buChar char="•"/>
            </a:pPr>
            <a:r>
              <a:rPr lang="en-US" sz="3200" spc="192">
                <a:solidFill>
                  <a:srgbClr val="000000"/>
                </a:solidFill>
                <a:latin typeface="Public Sans"/>
                <a:ea typeface="Public Sans"/>
                <a:cs typeface="Public Sans"/>
                <a:sym typeface="Public Sans"/>
              </a:rPr>
              <a:t>Sử dụng mô hình CLIP (ViT-B-32) để tạo vector embedding cho các mô tả(caption) của ảnh để tìm kiếm theo đặc trưng ngữ nghĩa(semnatic search).</a:t>
            </a:r>
          </a:p>
          <a:p>
            <a:pPr marL="690881" lvl="1" indent="-345440" algn="l">
              <a:lnSpc>
                <a:spcPts val="4320"/>
              </a:lnSpc>
              <a:buFont typeface="Arial"/>
              <a:buChar char="•"/>
            </a:pPr>
            <a:r>
              <a:rPr lang="en-US" sz="3200" spc="192">
                <a:solidFill>
                  <a:srgbClr val="000000"/>
                </a:solidFill>
                <a:latin typeface="Public Sans"/>
                <a:ea typeface="Public Sans"/>
                <a:cs typeface="Public Sans"/>
                <a:sym typeface="Public Sans"/>
              </a:rPr>
              <a:t>Lưu trữ vector embedding của dataset trong chỉ mục FAISS để tìm kiếm tương đồng nhanh(similarity search).</a:t>
            </a:r>
          </a:p>
          <a:p>
            <a:pPr marL="690881" lvl="1" indent="-345440" algn="l">
              <a:lnSpc>
                <a:spcPts val="4320"/>
              </a:lnSpc>
              <a:spcBef>
                <a:spcPct val="0"/>
              </a:spcBef>
              <a:buFont typeface="Arial"/>
              <a:buChar char="•"/>
            </a:pPr>
            <a:r>
              <a:rPr lang="en-US" sz="3200" spc="192">
                <a:solidFill>
                  <a:srgbClr val="000000"/>
                </a:solidFill>
                <a:latin typeface="Public Sans"/>
                <a:ea typeface="Public Sans"/>
                <a:cs typeface="Public Sans"/>
                <a:sym typeface="Public Sans"/>
              </a:rPr>
              <a:t>Biến query text hoặc query image thành vector embedding để truy vấn trên Faiss dựa trên độ đo cosine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4000500" y="-4000500"/>
            <a:ext cx="10287000" cy="18288000"/>
          </a:xfrm>
          <a:custGeom>
            <a:avLst/>
            <a:gdLst/>
            <a:ahLst/>
            <a:cxnLst/>
            <a:rect l="l" t="t" r="r" b="b"/>
            <a:pathLst>
              <a:path w="10287000" h="18288000">
                <a:moveTo>
                  <a:pt x="10287000" y="0"/>
                </a:moveTo>
                <a:lnTo>
                  <a:pt x="10287000" y="18288000"/>
                </a:lnTo>
                <a:lnTo>
                  <a:pt x="0" y="18288000"/>
                </a:lnTo>
                <a:lnTo>
                  <a:pt x="0" y="0"/>
                </a:lnTo>
                <a:lnTo>
                  <a:pt x="10287000" y="0"/>
                </a:lnTo>
                <a:close/>
              </a:path>
            </a:pathLst>
          </a:custGeom>
          <a:blipFill>
            <a:blip r:embed="rId2"/>
            <a:stretch>
              <a:fillRect l="-71867" t="-3631" r="-74156" b="-2747"/>
            </a:stretch>
          </a:blipFill>
        </p:spPr>
        <p:txBody>
          <a:bodyPr/>
          <a:lstStyle/>
          <a:p>
            <a:endParaRPr lang="en-US"/>
          </a:p>
        </p:txBody>
      </p:sp>
      <p:sp>
        <p:nvSpPr>
          <p:cNvPr id="3" name="Freeform 3"/>
          <p:cNvSpPr/>
          <p:nvPr/>
        </p:nvSpPr>
        <p:spPr>
          <a:xfrm>
            <a:off x="744094" y="1607351"/>
            <a:ext cx="7008004" cy="3536149"/>
          </a:xfrm>
          <a:custGeom>
            <a:avLst/>
            <a:gdLst/>
            <a:ahLst/>
            <a:cxnLst/>
            <a:rect l="l" t="t" r="r" b="b"/>
            <a:pathLst>
              <a:path w="7008004" h="3536149">
                <a:moveTo>
                  <a:pt x="0" y="0"/>
                </a:moveTo>
                <a:lnTo>
                  <a:pt x="7008004" y="0"/>
                </a:lnTo>
                <a:lnTo>
                  <a:pt x="7008004" y="3536149"/>
                </a:lnTo>
                <a:lnTo>
                  <a:pt x="0" y="3536149"/>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1028700" y="386700"/>
            <a:ext cx="7025086" cy="1177290"/>
          </a:xfrm>
          <a:prstGeom prst="rect">
            <a:avLst/>
          </a:prstGeom>
        </p:spPr>
        <p:txBody>
          <a:bodyPr lIns="0" tIns="0" rIns="0" bIns="0" rtlCol="0" anchor="t">
            <a:spAutoFit/>
          </a:bodyPr>
          <a:lstStyle/>
          <a:p>
            <a:pPr algn="l">
              <a:lnSpc>
                <a:spcPts val="8730"/>
              </a:lnSpc>
            </a:pPr>
            <a:r>
              <a:rPr lang="en-US" sz="9000" b="1">
                <a:solidFill>
                  <a:srgbClr val="000000"/>
                </a:solidFill>
                <a:latin typeface="DM Sans Bold"/>
                <a:ea typeface="DM Sans Bold"/>
                <a:cs typeface="DM Sans Bold"/>
                <a:sym typeface="DM Sans Bold"/>
              </a:rPr>
              <a:t>Dataset</a:t>
            </a:r>
          </a:p>
        </p:txBody>
      </p:sp>
      <p:sp>
        <p:nvSpPr>
          <p:cNvPr id="5" name="TextBox 5"/>
          <p:cNvSpPr txBox="1"/>
          <p:nvPr/>
        </p:nvSpPr>
        <p:spPr>
          <a:xfrm>
            <a:off x="6494123" y="5124450"/>
            <a:ext cx="11793877" cy="4800600"/>
          </a:xfrm>
          <a:prstGeom prst="rect">
            <a:avLst/>
          </a:prstGeom>
        </p:spPr>
        <p:txBody>
          <a:bodyPr lIns="0" tIns="0" rIns="0" bIns="0" rtlCol="0" anchor="t">
            <a:spAutoFit/>
          </a:bodyPr>
          <a:lstStyle/>
          <a:p>
            <a:pPr marL="755651" lvl="1" indent="-377825" algn="l">
              <a:lnSpc>
                <a:spcPts val="4725"/>
              </a:lnSpc>
              <a:buFont typeface="Arial"/>
              <a:buChar char="•"/>
            </a:pPr>
            <a:r>
              <a:rPr lang="en-US" sz="3500" spc="210">
                <a:solidFill>
                  <a:srgbClr val="000000"/>
                </a:solidFill>
                <a:latin typeface="Public Sans"/>
                <a:ea typeface="Public Sans"/>
                <a:cs typeface="Public Sans"/>
                <a:sym typeface="Public Sans"/>
              </a:rPr>
              <a:t>Tên đầy đủ: Common Objects in Context</a:t>
            </a:r>
          </a:p>
          <a:p>
            <a:pPr marL="755651" lvl="1" indent="-377825" algn="l">
              <a:lnSpc>
                <a:spcPts val="4725"/>
              </a:lnSpc>
              <a:buFont typeface="Arial"/>
              <a:buChar char="•"/>
            </a:pPr>
            <a:r>
              <a:rPr lang="en-US" sz="3500" spc="210">
                <a:solidFill>
                  <a:srgbClr val="000000"/>
                </a:solidFill>
                <a:latin typeface="Public Sans"/>
                <a:ea typeface="Public Sans"/>
                <a:cs typeface="Public Sans"/>
                <a:sym typeface="Public Sans"/>
              </a:rPr>
              <a:t>Mục đích: Phát triển và đánh giá các mô hình thị giác máy tính.</a:t>
            </a:r>
          </a:p>
          <a:p>
            <a:pPr marL="755651" lvl="1" indent="-377825" algn="l">
              <a:lnSpc>
                <a:spcPts val="4725"/>
              </a:lnSpc>
              <a:buFont typeface="Arial"/>
              <a:buChar char="•"/>
            </a:pPr>
            <a:r>
              <a:rPr lang="en-US" sz="3500" spc="210">
                <a:solidFill>
                  <a:srgbClr val="000000"/>
                </a:solidFill>
                <a:latin typeface="Public Sans"/>
                <a:ea typeface="Public Sans"/>
                <a:cs typeface="Public Sans"/>
                <a:sym typeface="Public Sans"/>
              </a:rPr>
              <a:t>Nội dung: 330.000+ hình ảnh, 80 danh mục đối tượng.</a:t>
            </a:r>
          </a:p>
          <a:p>
            <a:pPr marL="755651" lvl="1" indent="-377825" algn="l">
              <a:lnSpc>
                <a:spcPts val="4725"/>
              </a:lnSpc>
              <a:buFont typeface="Arial"/>
              <a:buChar char="•"/>
            </a:pPr>
            <a:r>
              <a:rPr lang="en-US" sz="3500" spc="210">
                <a:solidFill>
                  <a:srgbClr val="000000"/>
                </a:solidFill>
                <a:latin typeface="Public Sans"/>
                <a:ea typeface="Public Sans"/>
                <a:cs typeface="Public Sans"/>
                <a:sym typeface="Public Sans"/>
              </a:rPr>
              <a:t>Ứng dụng: Nhận diện đối tượng, phân đoạn ảnh, chú thích văn bản, phát hiện keypoints,...</a:t>
            </a:r>
          </a:p>
          <a:p>
            <a:pPr marL="0" lvl="0" indent="0" algn="l">
              <a:lnSpc>
                <a:spcPts val="4725"/>
              </a:lnSpc>
              <a:spcBef>
                <a:spcPct val="0"/>
              </a:spcBef>
            </a:pPr>
            <a:endParaRPr lang="en-US" sz="3500" spc="210">
              <a:solidFill>
                <a:srgbClr val="000000"/>
              </a:solidFill>
              <a:latin typeface="Public Sans"/>
              <a:ea typeface="Public Sans"/>
              <a:cs typeface="Public Sans"/>
              <a:sym typeface="Public Sans"/>
            </a:endParaRPr>
          </a:p>
        </p:txBody>
      </p:sp>
      <p:sp>
        <p:nvSpPr>
          <p:cNvPr id="6" name="Freeform 6"/>
          <p:cNvSpPr/>
          <p:nvPr/>
        </p:nvSpPr>
        <p:spPr>
          <a:xfrm rot="-5282649">
            <a:off x="860130" y="6904478"/>
            <a:ext cx="3830676" cy="1307218"/>
          </a:xfrm>
          <a:custGeom>
            <a:avLst/>
            <a:gdLst/>
            <a:ahLst/>
            <a:cxnLst/>
            <a:rect l="l" t="t" r="r" b="b"/>
            <a:pathLst>
              <a:path w="3830676" h="1307218">
                <a:moveTo>
                  <a:pt x="0" y="0"/>
                </a:moveTo>
                <a:lnTo>
                  <a:pt x="3830676" y="0"/>
                </a:lnTo>
                <a:lnTo>
                  <a:pt x="3830676" y="1307219"/>
                </a:lnTo>
                <a:lnTo>
                  <a:pt x="0" y="1307219"/>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txBody>
          <a:bodyPr/>
          <a:lstStyle/>
          <a:p>
            <a:endParaRPr lang="en-US"/>
          </a:p>
        </p:txBody>
      </p:sp>
      <p:sp>
        <p:nvSpPr>
          <p:cNvPr id="7" name="Freeform 7"/>
          <p:cNvSpPr/>
          <p:nvPr/>
        </p:nvSpPr>
        <p:spPr>
          <a:xfrm>
            <a:off x="12801533" y="-3053980"/>
            <a:ext cx="4292424" cy="3870986"/>
          </a:xfrm>
          <a:custGeom>
            <a:avLst/>
            <a:gdLst/>
            <a:ahLst/>
            <a:cxnLst/>
            <a:rect l="l" t="t" r="r" b="b"/>
            <a:pathLst>
              <a:path w="4292424" h="3870986">
                <a:moveTo>
                  <a:pt x="0" y="0"/>
                </a:moveTo>
                <a:lnTo>
                  <a:pt x="4292424" y="0"/>
                </a:lnTo>
                <a:lnTo>
                  <a:pt x="4292424" y="3870986"/>
                </a:lnTo>
                <a:lnTo>
                  <a:pt x="0" y="3870986"/>
                </a:lnTo>
                <a:lnTo>
                  <a:pt x="0" y="0"/>
                </a:lnTo>
                <a:close/>
              </a:path>
            </a:pathLst>
          </a:custGeom>
          <a:blipFill>
            <a:blip r:embed="rId6">
              <a:extLst>
                <a:ext uri="{96DAC541-7B7A-43D3-8B79-37D633B846F1}">
                  <asvg:svgBlip xmlns:asvg="http://schemas.microsoft.com/office/drawing/2016/SVG/main" r:embed="rId7"/>
                </a:ext>
              </a:extLst>
            </a:blip>
            <a:stretch>
              <a:fillRect/>
            </a:stretch>
          </a:blipFill>
          <a:ln cap="sq">
            <a:noFill/>
            <a:prstDash val="solid"/>
            <a:miter/>
          </a:ln>
        </p:spPr>
        <p:txBody>
          <a:bodyPr/>
          <a:lstStyle/>
          <a:p>
            <a:endParaRPr lang="en-US"/>
          </a:p>
        </p:txBody>
      </p:sp>
      <p:sp>
        <p:nvSpPr>
          <p:cNvPr id="8" name="Freeform 8"/>
          <p:cNvSpPr/>
          <p:nvPr/>
        </p:nvSpPr>
        <p:spPr>
          <a:xfrm>
            <a:off x="7495522" y="-3297794"/>
            <a:ext cx="5493058" cy="4114800"/>
          </a:xfrm>
          <a:custGeom>
            <a:avLst/>
            <a:gdLst/>
            <a:ahLst/>
            <a:cxnLst/>
            <a:rect l="l" t="t" r="r" b="b"/>
            <a:pathLst>
              <a:path w="5493058" h="4114800">
                <a:moveTo>
                  <a:pt x="0" y="0"/>
                </a:moveTo>
                <a:lnTo>
                  <a:pt x="5493058" y="0"/>
                </a:lnTo>
                <a:lnTo>
                  <a:pt x="5493058"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a:stretch>
          </a:blipFill>
          <a:ln cap="sq">
            <a:noFill/>
            <a:prstDash val="solid"/>
            <a:miter/>
          </a:ln>
        </p:spPr>
        <p:txBody>
          <a:bodyPr/>
          <a:lstStyle/>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4000500" y="-4000500"/>
            <a:ext cx="10287000" cy="18288000"/>
          </a:xfrm>
          <a:custGeom>
            <a:avLst/>
            <a:gdLst/>
            <a:ahLst/>
            <a:cxnLst/>
            <a:rect l="l" t="t" r="r" b="b"/>
            <a:pathLst>
              <a:path w="10287000" h="18288000">
                <a:moveTo>
                  <a:pt x="10287000" y="0"/>
                </a:moveTo>
                <a:lnTo>
                  <a:pt x="10287000" y="18288000"/>
                </a:lnTo>
                <a:lnTo>
                  <a:pt x="0" y="18288000"/>
                </a:lnTo>
                <a:lnTo>
                  <a:pt x="0" y="0"/>
                </a:lnTo>
                <a:lnTo>
                  <a:pt x="10287000" y="0"/>
                </a:lnTo>
                <a:close/>
              </a:path>
            </a:pathLst>
          </a:custGeom>
          <a:blipFill>
            <a:blip r:embed="rId2"/>
            <a:stretch>
              <a:fillRect l="-71867" t="-3631" r="-74156" b="-2747"/>
            </a:stretch>
          </a:blipFill>
        </p:spPr>
        <p:txBody>
          <a:bodyPr/>
          <a:lstStyle/>
          <a:p>
            <a:endParaRPr lang="en-US"/>
          </a:p>
        </p:txBody>
      </p:sp>
      <p:sp>
        <p:nvSpPr>
          <p:cNvPr id="3" name="TextBox 3"/>
          <p:cNvSpPr txBox="1"/>
          <p:nvPr/>
        </p:nvSpPr>
        <p:spPr>
          <a:xfrm>
            <a:off x="3948036" y="190500"/>
            <a:ext cx="11240690" cy="1177290"/>
          </a:xfrm>
          <a:prstGeom prst="rect">
            <a:avLst/>
          </a:prstGeom>
        </p:spPr>
        <p:txBody>
          <a:bodyPr lIns="0" tIns="0" rIns="0" bIns="0" rtlCol="0" anchor="t">
            <a:spAutoFit/>
          </a:bodyPr>
          <a:lstStyle/>
          <a:p>
            <a:pPr algn="l">
              <a:lnSpc>
                <a:spcPts val="8730"/>
              </a:lnSpc>
            </a:pPr>
            <a:r>
              <a:rPr lang="en-US" sz="9000" b="1">
                <a:solidFill>
                  <a:srgbClr val="000000"/>
                </a:solidFill>
                <a:latin typeface="Public Sans Bold"/>
                <a:ea typeface="Public Sans Bold"/>
                <a:cs typeface="Public Sans Bold"/>
                <a:sym typeface="Public Sans Bold"/>
              </a:rPr>
              <a:t>Semantic Search</a:t>
            </a:r>
          </a:p>
        </p:txBody>
      </p:sp>
      <p:sp>
        <p:nvSpPr>
          <p:cNvPr id="4" name="TextBox 4"/>
          <p:cNvSpPr txBox="1"/>
          <p:nvPr/>
        </p:nvSpPr>
        <p:spPr>
          <a:xfrm>
            <a:off x="848763" y="1310640"/>
            <a:ext cx="17439237" cy="7054215"/>
          </a:xfrm>
          <a:prstGeom prst="rect">
            <a:avLst/>
          </a:prstGeom>
        </p:spPr>
        <p:txBody>
          <a:bodyPr lIns="0" tIns="0" rIns="0" bIns="0" rtlCol="0" anchor="t">
            <a:spAutoFit/>
          </a:bodyPr>
          <a:lstStyle/>
          <a:p>
            <a:pPr marL="690881" lvl="1" indent="-345440" algn="l">
              <a:lnSpc>
                <a:spcPts val="4320"/>
              </a:lnSpc>
              <a:buFont typeface="Arial"/>
              <a:buChar char="•"/>
            </a:pPr>
            <a:r>
              <a:rPr lang="en-US" sz="3200" b="1" spc="192">
                <a:solidFill>
                  <a:srgbClr val="000000"/>
                </a:solidFill>
                <a:latin typeface="Public Sans Bold"/>
                <a:ea typeface="Public Sans Bold"/>
                <a:cs typeface="Public Sans Bold"/>
                <a:sym typeface="Public Sans Bold"/>
              </a:rPr>
              <a:t>Semantic Search là gì?</a:t>
            </a:r>
          </a:p>
          <a:p>
            <a:pPr algn="l">
              <a:lnSpc>
                <a:spcPts val="4320"/>
              </a:lnSpc>
            </a:pPr>
            <a:r>
              <a:rPr lang="en-US" sz="3200" spc="192">
                <a:solidFill>
                  <a:srgbClr val="000000"/>
                </a:solidFill>
                <a:latin typeface="Public Sans"/>
                <a:ea typeface="Public Sans"/>
                <a:cs typeface="Public Sans"/>
                <a:sym typeface="Public Sans"/>
              </a:rPr>
              <a:t>Semantic Search (tìm kiếm ngữ nghĩa) là một kỹ thuật nhằm tìm kiếm các tài liệu, câu, hoặc văn bản dựa trên ý nghĩa (ngữ nghĩa) thay vì chỉ dựa trên các từ khóa chính xác. Trong bối cảnh sử dụng Sentence Transformers, semantic search tận dụng các biểu diễn ngữ nghĩa của câu (sentence embeddings) để đo lường mức độ tương đồng giữa các văn bản.</a:t>
            </a:r>
          </a:p>
          <a:p>
            <a:pPr marL="690881" lvl="1" indent="-345440" algn="l">
              <a:lnSpc>
                <a:spcPts val="4320"/>
              </a:lnSpc>
              <a:buFont typeface="Arial"/>
              <a:buChar char="•"/>
            </a:pPr>
            <a:r>
              <a:rPr lang="en-US" sz="3200" b="1" spc="192">
                <a:solidFill>
                  <a:srgbClr val="000000"/>
                </a:solidFill>
                <a:latin typeface="Public Sans Bold"/>
                <a:ea typeface="Public Sans Bold"/>
                <a:cs typeface="Public Sans Bold"/>
                <a:sym typeface="Public Sans Bold"/>
              </a:rPr>
              <a:t>Sentence Transformers và embeddings</a:t>
            </a:r>
          </a:p>
          <a:p>
            <a:pPr algn="l">
              <a:lnSpc>
                <a:spcPts val="4320"/>
              </a:lnSpc>
            </a:pPr>
            <a:r>
              <a:rPr lang="en-US" sz="3200" spc="192">
                <a:solidFill>
                  <a:srgbClr val="000000"/>
                </a:solidFill>
                <a:latin typeface="Public Sans"/>
                <a:ea typeface="Public Sans"/>
                <a:cs typeface="Public Sans"/>
                <a:sym typeface="Public Sans"/>
              </a:rPr>
              <a:t>Sentence Transformers là một mô hình học sâu được thiết kế để tạo ra embeddings cho câu, sao cho các câu có ý nghĩa tương tự sẽ có embeddings gần nhau trong không gian vector. Các embeddings này được tạo ra bằng cách áp dụng mô hình như BERT, RoBERTa hoặc các biến thể khác, sau đó tinh chỉnh để tối ưu hóa cho các tác vụ tìm kiếm và so sánh ngữ nghĩa.</a:t>
            </a:r>
          </a:p>
          <a:p>
            <a:pPr marL="0" lvl="0" indent="0" algn="l">
              <a:lnSpc>
                <a:spcPts val="4320"/>
              </a:lnSpc>
              <a:spcBef>
                <a:spcPct val="0"/>
              </a:spcBef>
            </a:pPr>
            <a:endParaRPr lang="en-US" sz="3200" spc="192">
              <a:solidFill>
                <a:srgbClr val="000000"/>
              </a:solidFill>
              <a:latin typeface="Public Sans"/>
              <a:ea typeface="Public Sans"/>
              <a:cs typeface="Public Sans"/>
              <a:sym typeface="Public Sans"/>
            </a:endParaRPr>
          </a:p>
        </p:txBody>
      </p:sp>
      <p:sp>
        <p:nvSpPr>
          <p:cNvPr id="5" name="Freeform 5"/>
          <p:cNvSpPr/>
          <p:nvPr/>
        </p:nvSpPr>
        <p:spPr>
          <a:xfrm rot="4747568">
            <a:off x="-2972342" y="3665317"/>
            <a:ext cx="4896097" cy="2735694"/>
          </a:xfrm>
          <a:custGeom>
            <a:avLst/>
            <a:gdLst/>
            <a:ahLst/>
            <a:cxnLst/>
            <a:rect l="l" t="t" r="r" b="b"/>
            <a:pathLst>
              <a:path w="4896097" h="2735694">
                <a:moveTo>
                  <a:pt x="0" y="0"/>
                </a:moveTo>
                <a:lnTo>
                  <a:pt x="4896097" y="0"/>
                </a:lnTo>
                <a:lnTo>
                  <a:pt x="4896097" y="2735694"/>
                </a:lnTo>
                <a:lnTo>
                  <a:pt x="0" y="2735694"/>
                </a:lnTo>
                <a:lnTo>
                  <a:pt x="0" y="0"/>
                </a:lnTo>
                <a:close/>
              </a:path>
            </a:pathLst>
          </a:custGeom>
          <a:blipFill>
            <a:blip r:embed="rId3">
              <a:extLst>
                <a:ext uri="{96DAC541-7B7A-43D3-8B79-37D633B846F1}">
                  <asvg:svgBlip xmlns:asvg="http://schemas.microsoft.com/office/drawing/2016/SVG/main" r:embed="rId4"/>
                </a:ext>
              </a:extLst>
            </a:blip>
            <a:stretch>
              <a:fillRect/>
            </a:stretch>
          </a:blipFill>
          <a:ln cap="sq">
            <a:noFill/>
            <a:prstDash val="solid"/>
            <a:miter/>
          </a:ln>
        </p:spPr>
        <p:txBody>
          <a:bodyPr/>
          <a:lstStyle/>
          <a:p>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4000500" y="-4000500"/>
            <a:ext cx="10287000" cy="18288000"/>
          </a:xfrm>
          <a:custGeom>
            <a:avLst/>
            <a:gdLst/>
            <a:ahLst/>
            <a:cxnLst/>
            <a:rect l="l" t="t" r="r" b="b"/>
            <a:pathLst>
              <a:path w="10287000" h="18288000">
                <a:moveTo>
                  <a:pt x="10287000" y="0"/>
                </a:moveTo>
                <a:lnTo>
                  <a:pt x="10287000" y="18288000"/>
                </a:lnTo>
                <a:lnTo>
                  <a:pt x="0" y="18288000"/>
                </a:lnTo>
                <a:lnTo>
                  <a:pt x="0" y="0"/>
                </a:lnTo>
                <a:lnTo>
                  <a:pt x="10287000" y="0"/>
                </a:lnTo>
                <a:close/>
              </a:path>
            </a:pathLst>
          </a:custGeom>
          <a:blipFill>
            <a:blip r:embed="rId2"/>
            <a:stretch>
              <a:fillRect l="-71867" t="-3631" r="-74156" b="-2747"/>
            </a:stretch>
          </a:blipFill>
        </p:spPr>
        <p:txBody>
          <a:bodyPr/>
          <a:lstStyle/>
          <a:p>
            <a:endParaRPr lang="en-US"/>
          </a:p>
        </p:txBody>
      </p:sp>
      <p:sp>
        <p:nvSpPr>
          <p:cNvPr id="3" name="Freeform 3"/>
          <p:cNvSpPr/>
          <p:nvPr/>
        </p:nvSpPr>
        <p:spPr>
          <a:xfrm>
            <a:off x="9974813" y="2205990"/>
            <a:ext cx="8313187" cy="5902363"/>
          </a:xfrm>
          <a:custGeom>
            <a:avLst/>
            <a:gdLst/>
            <a:ahLst/>
            <a:cxnLst/>
            <a:rect l="l" t="t" r="r" b="b"/>
            <a:pathLst>
              <a:path w="8313187" h="5902363">
                <a:moveTo>
                  <a:pt x="0" y="0"/>
                </a:moveTo>
                <a:lnTo>
                  <a:pt x="8313187" y="0"/>
                </a:lnTo>
                <a:lnTo>
                  <a:pt x="8313187" y="5902363"/>
                </a:lnTo>
                <a:lnTo>
                  <a:pt x="0" y="5902363"/>
                </a:lnTo>
                <a:lnTo>
                  <a:pt x="0" y="0"/>
                </a:lnTo>
                <a:close/>
              </a:path>
            </a:pathLst>
          </a:custGeom>
          <a:blipFill>
            <a:blip r:embed="rId3"/>
            <a:stretch>
              <a:fillRect/>
            </a:stretch>
          </a:blipFill>
        </p:spPr>
        <p:txBody>
          <a:bodyPr/>
          <a:lstStyle/>
          <a:p>
            <a:endParaRPr lang="en-US"/>
          </a:p>
        </p:txBody>
      </p:sp>
      <p:sp>
        <p:nvSpPr>
          <p:cNvPr id="4" name="Freeform 4"/>
          <p:cNvSpPr/>
          <p:nvPr/>
        </p:nvSpPr>
        <p:spPr>
          <a:xfrm>
            <a:off x="-674156" y="-1322787"/>
            <a:ext cx="4224468" cy="2645573"/>
          </a:xfrm>
          <a:custGeom>
            <a:avLst/>
            <a:gdLst/>
            <a:ahLst/>
            <a:cxnLst/>
            <a:rect l="l" t="t" r="r" b="b"/>
            <a:pathLst>
              <a:path w="4224468" h="2645573">
                <a:moveTo>
                  <a:pt x="0" y="0"/>
                </a:moveTo>
                <a:lnTo>
                  <a:pt x="4224468" y="0"/>
                </a:lnTo>
                <a:lnTo>
                  <a:pt x="4224468" y="2645574"/>
                </a:lnTo>
                <a:lnTo>
                  <a:pt x="0" y="2645574"/>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txBody>
          <a:bodyPr/>
          <a:lstStyle/>
          <a:p>
            <a:endParaRPr lang="en-US"/>
          </a:p>
        </p:txBody>
      </p:sp>
      <p:sp>
        <p:nvSpPr>
          <p:cNvPr id="5" name="Freeform 5"/>
          <p:cNvSpPr/>
          <p:nvPr/>
        </p:nvSpPr>
        <p:spPr>
          <a:xfrm>
            <a:off x="1824589" y="8512865"/>
            <a:ext cx="6019445" cy="558039"/>
          </a:xfrm>
          <a:custGeom>
            <a:avLst/>
            <a:gdLst/>
            <a:ahLst/>
            <a:cxnLst/>
            <a:rect l="l" t="t" r="r" b="b"/>
            <a:pathLst>
              <a:path w="6019445" h="558039">
                <a:moveTo>
                  <a:pt x="0" y="0"/>
                </a:moveTo>
                <a:lnTo>
                  <a:pt x="6019445" y="0"/>
                </a:lnTo>
                <a:lnTo>
                  <a:pt x="6019445" y="558039"/>
                </a:lnTo>
                <a:lnTo>
                  <a:pt x="0" y="558039"/>
                </a:lnTo>
                <a:lnTo>
                  <a:pt x="0" y="0"/>
                </a:lnTo>
                <a:close/>
              </a:path>
            </a:pathLst>
          </a:custGeom>
          <a:blipFill>
            <a:blip r:embed="rId6"/>
            <a:stretch>
              <a:fillRect r="-2728"/>
            </a:stretch>
          </a:blipFill>
        </p:spPr>
        <p:txBody>
          <a:bodyPr/>
          <a:lstStyle/>
          <a:p>
            <a:endParaRPr lang="en-US"/>
          </a:p>
        </p:txBody>
      </p:sp>
      <p:sp>
        <p:nvSpPr>
          <p:cNvPr id="6" name="Freeform 6"/>
          <p:cNvSpPr/>
          <p:nvPr/>
        </p:nvSpPr>
        <p:spPr>
          <a:xfrm>
            <a:off x="1824589" y="9258300"/>
            <a:ext cx="6638461" cy="390498"/>
          </a:xfrm>
          <a:custGeom>
            <a:avLst/>
            <a:gdLst/>
            <a:ahLst/>
            <a:cxnLst/>
            <a:rect l="l" t="t" r="r" b="b"/>
            <a:pathLst>
              <a:path w="6638461" h="390498">
                <a:moveTo>
                  <a:pt x="0" y="0"/>
                </a:moveTo>
                <a:lnTo>
                  <a:pt x="6638461" y="0"/>
                </a:lnTo>
                <a:lnTo>
                  <a:pt x="6638461" y="390498"/>
                </a:lnTo>
                <a:lnTo>
                  <a:pt x="0" y="390498"/>
                </a:lnTo>
                <a:lnTo>
                  <a:pt x="0" y="0"/>
                </a:lnTo>
                <a:close/>
              </a:path>
            </a:pathLst>
          </a:custGeom>
          <a:blipFill>
            <a:blip r:embed="rId7"/>
            <a:stretch>
              <a:fillRect/>
            </a:stretch>
          </a:blipFill>
        </p:spPr>
        <p:txBody>
          <a:bodyPr/>
          <a:lstStyle/>
          <a:p>
            <a:endParaRPr lang="en-US"/>
          </a:p>
        </p:txBody>
      </p:sp>
      <p:sp>
        <p:nvSpPr>
          <p:cNvPr id="7" name="TextBox 7"/>
          <p:cNvSpPr txBox="1"/>
          <p:nvPr/>
        </p:nvSpPr>
        <p:spPr>
          <a:xfrm>
            <a:off x="743609" y="2148840"/>
            <a:ext cx="8926140" cy="5265927"/>
          </a:xfrm>
          <a:prstGeom prst="rect">
            <a:avLst/>
          </a:prstGeom>
        </p:spPr>
        <p:txBody>
          <a:bodyPr lIns="0" tIns="0" rIns="0" bIns="0" rtlCol="0" anchor="t">
            <a:spAutoFit/>
          </a:bodyPr>
          <a:lstStyle/>
          <a:p>
            <a:pPr algn="l">
              <a:lnSpc>
                <a:spcPts val="4147"/>
              </a:lnSpc>
            </a:pPr>
            <a:r>
              <a:rPr lang="en-US" sz="3072" spc="184">
                <a:solidFill>
                  <a:srgbClr val="000000"/>
                </a:solidFill>
                <a:latin typeface="Public Sans"/>
                <a:ea typeface="Public Sans"/>
                <a:cs typeface="Public Sans"/>
                <a:sym typeface="Public Sans"/>
              </a:rPr>
              <a:t>CLIP (Contrastive Language–Image Pretraining) là mô hình tiên tiến do OpenAI phát triển để kết nối ngữ nghĩa giữa văn bản và hình ảnh.</a:t>
            </a:r>
          </a:p>
          <a:p>
            <a:pPr algn="l">
              <a:lnSpc>
                <a:spcPts val="4147"/>
              </a:lnSpc>
            </a:pPr>
            <a:r>
              <a:rPr lang="en-US" sz="3072" spc="184">
                <a:solidFill>
                  <a:srgbClr val="000000"/>
                </a:solidFill>
                <a:latin typeface="Public Sans"/>
                <a:ea typeface="Public Sans"/>
                <a:cs typeface="Public Sans"/>
                <a:sym typeface="Public Sans"/>
              </a:rPr>
              <a:t>Ưu điểm:</a:t>
            </a:r>
          </a:p>
          <a:p>
            <a:pPr marL="663290" lvl="1" indent="-331645" algn="l">
              <a:lnSpc>
                <a:spcPts val="4147"/>
              </a:lnSpc>
              <a:buFont typeface="Arial"/>
              <a:buChar char="•"/>
            </a:pPr>
            <a:r>
              <a:rPr lang="en-US" sz="3072" spc="184">
                <a:solidFill>
                  <a:srgbClr val="000000"/>
                </a:solidFill>
                <a:latin typeface="Public Sans"/>
                <a:ea typeface="Public Sans"/>
                <a:cs typeface="Public Sans"/>
                <a:sym typeface="Public Sans"/>
              </a:rPr>
              <a:t>Có thể tìm kiếm hình ảnh từ văn bản và ngược lại.</a:t>
            </a:r>
          </a:p>
          <a:p>
            <a:pPr marL="663290" lvl="1" indent="-331645" algn="l">
              <a:lnSpc>
                <a:spcPts val="4147"/>
              </a:lnSpc>
              <a:spcBef>
                <a:spcPct val="0"/>
              </a:spcBef>
              <a:buFont typeface="Arial"/>
              <a:buChar char="•"/>
            </a:pPr>
            <a:r>
              <a:rPr lang="en-US" sz="3072" spc="184">
                <a:solidFill>
                  <a:srgbClr val="000000"/>
                </a:solidFill>
                <a:latin typeface="Public Sans"/>
                <a:ea typeface="Public Sans"/>
                <a:cs typeface="Public Sans"/>
                <a:sym typeface="Public Sans"/>
              </a:rPr>
              <a:t>Được huấn luyện trên dữ liệu lớn, mang lại độ chính xác cao trong nhiều tác vụ thị giác và ngôn ngữ.</a:t>
            </a:r>
          </a:p>
        </p:txBody>
      </p:sp>
      <p:sp>
        <p:nvSpPr>
          <p:cNvPr id="8" name="TextBox 8"/>
          <p:cNvSpPr txBox="1"/>
          <p:nvPr/>
        </p:nvSpPr>
        <p:spPr>
          <a:xfrm>
            <a:off x="5823363" y="190500"/>
            <a:ext cx="7273173" cy="1177290"/>
          </a:xfrm>
          <a:prstGeom prst="rect">
            <a:avLst/>
          </a:prstGeom>
        </p:spPr>
        <p:txBody>
          <a:bodyPr lIns="0" tIns="0" rIns="0" bIns="0" rtlCol="0" anchor="t">
            <a:spAutoFit/>
          </a:bodyPr>
          <a:lstStyle/>
          <a:p>
            <a:pPr algn="l">
              <a:lnSpc>
                <a:spcPts val="8730"/>
              </a:lnSpc>
            </a:pPr>
            <a:r>
              <a:rPr lang="en-US" sz="9000" b="1">
                <a:solidFill>
                  <a:srgbClr val="000000"/>
                </a:solidFill>
                <a:latin typeface="DM Sans Bold"/>
                <a:ea typeface="DM Sans Bold"/>
                <a:cs typeface="DM Sans Bold"/>
                <a:sym typeface="DM Sans Bold"/>
              </a:rPr>
              <a:t>CLIP MODEL</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4000500" y="-4000500"/>
            <a:ext cx="10287000" cy="18288000"/>
          </a:xfrm>
          <a:custGeom>
            <a:avLst/>
            <a:gdLst/>
            <a:ahLst/>
            <a:cxnLst/>
            <a:rect l="l" t="t" r="r" b="b"/>
            <a:pathLst>
              <a:path w="10287000" h="18288000">
                <a:moveTo>
                  <a:pt x="10287000" y="0"/>
                </a:moveTo>
                <a:lnTo>
                  <a:pt x="10287000" y="18288000"/>
                </a:lnTo>
                <a:lnTo>
                  <a:pt x="0" y="18288000"/>
                </a:lnTo>
                <a:lnTo>
                  <a:pt x="0" y="0"/>
                </a:lnTo>
                <a:lnTo>
                  <a:pt x="10287000" y="0"/>
                </a:lnTo>
                <a:close/>
              </a:path>
            </a:pathLst>
          </a:custGeom>
          <a:blipFill>
            <a:blip r:embed="rId2"/>
            <a:stretch>
              <a:fillRect l="-71867" t="-3631" r="-74156" b="-2747"/>
            </a:stretch>
          </a:blipFill>
        </p:spPr>
        <p:txBody>
          <a:bodyPr/>
          <a:lstStyle/>
          <a:p>
            <a:endParaRPr lang="en-US"/>
          </a:p>
        </p:txBody>
      </p:sp>
      <p:sp>
        <p:nvSpPr>
          <p:cNvPr id="3" name="Freeform 3"/>
          <p:cNvSpPr/>
          <p:nvPr/>
        </p:nvSpPr>
        <p:spPr>
          <a:xfrm>
            <a:off x="12297239" y="618748"/>
            <a:ext cx="5617580" cy="3510988"/>
          </a:xfrm>
          <a:custGeom>
            <a:avLst/>
            <a:gdLst/>
            <a:ahLst/>
            <a:cxnLst/>
            <a:rect l="l" t="t" r="r" b="b"/>
            <a:pathLst>
              <a:path w="5617580" h="3510988">
                <a:moveTo>
                  <a:pt x="0" y="0"/>
                </a:moveTo>
                <a:lnTo>
                  <a:pt x="5617580" y="0"/>
                </a:lnTo>
                <a:lnTo>
                  <a:pt x="5617580" y="3510988"/>
                </a:lnTo>
                <a:lnTo>
                  <a:pt x="0" y="3510988"/>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1196101" y="809248"/>
            <a:ext cx="12202622" cy="1141207"/>
          </a:xfrm>
          <a:prstGeom prst="rect">
            <a:avLst/>
          </a:prstGeom>
        </p:spPr>
        <p:txBody>
          <a:bodyPr lIns="0" tIns="0" rIns="0" bIns="0" rtlCol="0" anchor="t">
            <a:spAutoFit/>
          </a:bodyPr>
          <a:lstStyle/>
          <a:p>
            <a:pPr algn="l">
              <a:lnSpc>
                <a:spcPts val="8480"/>
              </a:lnSpc>
            </a:pPr>
            <a:r>
              <a:rPr lang="en-US" sz="8742" b="1">
                <a:solidFill>
                  <a:srgbClr val="000000"/>
                </a:solidFill>
                <a:latin typeface="Public Sans Bold"/>
                <a:ea typeface="Public Sans Bold"/>
                <a:cs typeface="Public Sans Bold"/>
                <a:sym typeface="Public Sans Bold"/>
              </a:rPr>
              <a:t>Truy vấn bằng FAISS</a:t>
            </a:r>
          </a:p>
        </p:txBody>
      </p:sp>
      <p:sp>
        <p:nvSpPr>
          <p:cNvPr id="5" name="TextBox 5"/>
          <p:cNvSpPr txBox="1"/>
          <p:nvPr/>
        </p:nvSpPr>
        <p:spPr>
          <a:xfrm>
            <a:off x="1028700" y="2913638"/>
            <a:ext cx="11793877" cy="4724400"/>
          </a:xfrm>
          <a:prstGeom prst="rect">
            <a:avLst/>
          </a:prstGeom>
        </p:spPr>
        <p:txBody>
          <a:bodyPr lIns="0" tIns="0" rIns="0" bIns="0" rtlCol="0" anchor="t">
            <a:spAutoFit/>
          </a:bodyPr>
          <a:lstStyle/>
          <a:p>
            <a:pPr algn="l">
              <a:lnSpc>
                <a:spcPts val="5399"/>
              </a:lnSpc>
            </a:pPr>
            <a:r>
              <a:rPr lang="en-US" sz="3999" spc="239">
                <a:solidFill>
                  <a:srgbClr val="000000"/>
                </a:solidFill>
                <a:latin typeface="Public Sans"/>
                <a:ea typeface="Public Sans"/>
                <a:cs typeface="Public Sans"/>
                <a:sym typeface="Public Sans"/>
              </a:rPr>
              <a:t>FAISS (Facebook AI Similarity Search) là thư viện dùng để tìm kiếm tương đồng nhanh và có khả năng mở rộng trong không gian nhiều chiều. </a:t>
            </a:r>
          </a:p>
          <a:p>
            <a:pPr marL="0" lvl="0" indent="0" algn="l">
              <a:lnSpc>
                <a:spcPts val="5399"/>
              </a:lnSpc>
              <a:spcBef>
                <a:spcPct val="0"/>
              </a:spcBef>
            </a:pPr>
            <a:r>
              <a:rPr lang="en-US" sz="3999" spc="239">
                <a:solidFill>
                  <a:srgbClr val="000000"/>
                </a:solidFill>
                <a:latin typeface="Public Sans"/>
                <a:ea typeface="Public Sans"/>
                <a:cs typeface="Public Sans"/>
                <a:sym typeface="Public Sans"/>
              </a:rPr>
              <a:t>FAISS giúp lưu trữ và tìm kiếm các vector, lý tưởng cho các tác vụ như truy xuất ảnh/ văn bản và hệ thống gợi ý.</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4000500" y="-4000500"/>
            <a:ext cx="10287000" cy="18288000"/>
          </a:xfrm>
          <a:custGeom>
            <a:avLst/>
            <a:gdLst/>
            <a:ahLst/>
            <a:cxnLst/>
            <a:rect l="l" t="t" r="r" b="b"/>
            <a:pathLst>
              <a:path w="10287000" h="18288000">
                <a:moveTo>
                  <a:pt x="10287000" y="0"/>
                </a:moveTo>
                <a:lnTo>
                  <a:pt x="10287000" y="18288000"/>
                </a:lnTo>
                <a:lnTo>
                  <a:pt x="0" y="18288000"/>
                </a:lnTo>
                <a:lnTo>
                  <a:pt x="0" y="0"/>
                </a:lnTo>
                <a:lnTo>
                  <a:pt x="10287000" y="0"/>
                </a:lnTo>
                <a:close/>
              </a:path>
            </a:pathLst>
          </a:custGeom>
          <a:blipFill>
            <a:blip r:embed="rId2"/>
            <a:stretch>
              <a:fillRect l="-81105" t="-2987" r="-64918" b="-3390"/>
            </a:stretch>
          </a:blipFill>
        </p:spPr>
        <p:txBody>
          <a:bodyPr/>
          <a:lstStyle/>
          <a:p>
            <a:endParaRPr lang="en-US"/>
          </a:p>
        </p:txBody>
      </p:sp>
      <p:sp>
        <p:nvSpPr>
          <p:cNvPr id="3" name="Freeform 3"/>
          <p:cNvSpPr/>
          <p:nvPr/>
        </p:nvSpPr>
        <p:spPr>
          <a:xfrm>
            <a:off x="0" y="4411942"/>
            <a:ext cx="11094336" cy="6059678"/>
          </a:xfrm>
          <a:custGeom>
            <a:avLst/>
            <a:gdLst/>
            <a:ahLst/>
            <a:cxnLst/>
            <a:rect l="l" t="t" r="r" b="b"/>
            <a:pathLst>
              <a:path w="11094336" h="6059678">
                <a:moveTo>
                  <a:pt x="0" y="0"/>
                </a:moveTo>
                <a:lnTo>
                  <a:pt x="11094336" y="0"/>
                </a:lnTo>
                <a:lnTo>
                  <a:pt x="11094336" y="6059678"/>
                </a:lnTo>
                <a:lnTo>
                  <a:pt x="0" y="6059678"/>
                </a:lnTo>
                <a:lnTo>
                  <a:pt x="0" y="0"/>
                </a:lnTo>
                <a:close/>
              </a:path>
            </a:pathLst>
          </a:custGeom>
          <a:blipFill>
            <a:blip r:embed="rId3"/>
            <a:stretch>
              <a:fillRect/>
            </a:stretch>
          </a:blipFill>
        </p:spPr>
        <p:txBody>
          <a:bodyPr/>
          <a:lstStyle/>
          <a:p>
            <a:endParaRPr lang="en-US"/>
          </a:p>
        </p:txBody>
      </p:sp>
      <p:sp>
        <p:nvSpPr>
          <p:cNvPr id="4" name="Freeform 4"/>
          <p:cNvSpPr/>
          <p:nvPr/>
        </p:nvSpPr>
        <p:spPr>
          <a:xfrm>
            <a:off x="11094336" y="5143500"/>
            <a:ext cx="7193664" cy="1230109"/>
          </a:xfrm>
          <a:custGeom>
            <a:avLst/>
            <a:gdLst/>
            <a:ahLst/>
            <a:cxnLst/>
            <a:rect l="l" t="t" r="r" b="b"/>
            <a:pathLst>
              <a:path w="7193664" h="1230109">
                <a:moveTo>
                  <a:pt x="0" y="0"/>
                </a:moveTo>
                <a:lnTo>
                  <a:pt x="7193664" y="0"/>
                </a:lnTo>
                <a:lnTo>
                  <a:pt x="7193664" y="1230109"/>
                </a:lnTo>
                <a:lnTo>
                  <a:pt x="0" y="1230109"/>
                </a:lnTo>
                <a:lnTo>
                  <a:pt x="0" y="0"/>
                </a:lnTo>
                <a:close/>
              </a:path>
            </a:pathLst>
          </a:custGeom>
          <a:blipFill>
            <a:blip r:embed="rId4"/>
            <a:stretch>
              <a:fillRect l="-7203" r="-13072"/>
            </a:stretch>
          </a:blipFill>
        </p:spPr>
        <p:txBody>
          <a:bodyPr/>
          <a:lstStyle/>
          <a:p>
            <a:endParaRPr lang="en-US"/>
          </a:p>
        </p:txBody>
      </p:sp>
      <p:sp>
        <p:nvSpPr>
          <p:cNvPr id="5" name="TextBox 5"/>
          <p:cNvSpPr txBox="1"/>
          <p:nvPr/>
        </p:nvSpPr>
        <p:spPr>
          <a:xfrm>
            <a:off x="451394" y="205423"/>
            <a:ext cx="10875632" cy="3462655"/>
          </a:xfrm>
          <a:prstGeom prst="rect">
            <a:avLst/>
          </a:prstGeom>
        </p:spPr>
        <p:txBody>
          <a:bodyPr lIns="0" tIns="0" rIns="0" bIns="0" rtlCol="0" anchor="t">
            <a:spAutoFit/>
          </a:bodyPr>
          <a:lstStyle/>
          <a:p>
            <a:pPr algn="ctr">
              <a:lnSpc>
                <a:spcPts val="3919"/>
              </a:lnSpc>
            </a:pPr>
            <a:r>
              <a:rPr lang="en-US" sz="2799">
                <a:solidFill>
                  <a:srgbClr val="000000"/>
                </a:solidFill>
                <a:latin typeface="Public Sans"/>
                <a:ea typeface="Public Sans"/>
                <a:cs typeface="Public Sans"/>
                <a:sym typeface="Public Sans"/>
              </a:rPr>
              <a:t>Cách FAISS Hoạt Động:</a:t>
            </a:r>
          </a:p>
          <a:p>
            <a:pPr marL="604519" lvl="1" indent="-302260" algn="ctr">
              <a:lnSpc>
                <a:spcPts val="3919"/>
              </a:lnSpc>
              <a:buFont typeface="Arial"/>
              <a:buChar char="•"/>
            </a:pPr>
            <a:r>
              <a:rPr lang="en-US" sz="2799">
                <a:solidFill>
                  <a:srgbClr val="000000"/>
                </a:solidFill>
                <a:latin typeface="Public Sans"/>
                <a:ea typeface="Public Sans"/>
                <a:cs typeface="Public Sans"/>
                <a:sym typeface="Public Sans"/>
              </a:rPr>
              <a:t>Bước 1: Chuyển đổi dữ liệu thành vector nhúng(embedding) bằng các mô hình nhúng như CLIP.</a:t>
            </a:r>
          </a:p>
          <a:p>
            <a:pPr marL="604519" lvl="1" indent="-302260" algn="ctr">
              <a:lnSpc>
                <a:spcPts val="3919"/>
              </a:lnSpc>
              <a:buFont typeface="Arial"/>
              <a:buChar char="•"/>
            </a:pPr>
            <a:r>
              <a:rPr lang="en-US" sz="2799">
                <a:solidFill>
                  <a:srgbClr val="000000"/>
                </a:solidFill>
                <a:latin typeface="Public Sans"/>
                <a:ea typeface="Public Sans"/>
                <a:cs typeface="Public Sans"/>
                <a:sym typeface="Public Sans"/>
              </a:rPr>
              <a:t>Bước 2: Lưu trữ các vector này vào chỉ mục FAISS để tối ưu hóa cho tìm kiếm lân cận.</a:t>
            </a:r>
          </a:p>
          <a:p>
            <a:pPr marL="604519" lvl="1" indent="-302260" algn="ctr">
              <a:lnSpc>
                <a:spcPts val="3919"/>
              </a:lnSpc>
              <a:spcBef>
                <a:spcPct val="0"/>
              </a:spcBef>
              <a:buFont typeface="Arial"/>
              <a:buChar char="•"/>
            </a:pPr>
            <a:r>
              <a:rPr lang="en-US" sz="2799">
                <a:solidFill>
                  <a:srgbClr val="000000"/>
                </a:solidFill>
                <a:latin typeface="Public Sans"/>
                <a:ea typeface="Public Sans"/>
                <a:cs typeface="Public Sans"/>
                <a:sym typeface="Public Sans"/>
              </a:rPr>
              <a:t>Bước 3: Khi có truy vấn đầu vào, FAISS sẽ chuyển đổi truy vấn thành vector và tìm kiếm các vector gần nhất.</a:t>
            </a:r>
          </a:p>
        </p:txBody>
      </p:sp>
      <p:sp>
        <p:nvSpPr>
          <p:cNvPr id="6" name="TextBox 6"/>
          <p:cNvSpPr txBox="1"/>
          <p:nvPr/>
        </p:nvSpPr>
        <p:spPr>
          <a:xfrm>
            <a:off x="11480285" y="6982220"/>
            <a:ext cx="6517344" cy="2734945"/>
          </a:xfrm>
          <a:prstGeom prst="rect">
            <a:avLst/>
          </a:prstGeom>
        </p:spPr>
        <p:txBody>
          <a:bodyPr lIns="0" tIns="0" rIns="0" bIns="0" rtlCol="0" anchor="t">
            <a:spAutoFit/>
          </a:bodyPr>
          <a:lstStyle/>
          <a:p>
            <a:pPr algn="ctr">
              <a:lnSpc>
                <a:spcPts val="3079"/>
              </a:lnSpc>
              <a:spcBef>
                <a:spcPct val="0"/>
              </a:spcBef>
            </a:pPr>
            <a:r>
              <a:rPr lang="en-US" sz="2199">
                <a:solidFill>
                  <a:srgbClr val="000000"/>
                </a:solidFill>
                <a:latin typeface="Public Sans"/>
                <a:ea typeface="Public Sans"/>
                <a:cs typeface="Public Sans"/>
                <a:sym typeface="Public Sans"/>
              </a:rPr>
              <a:t>Hỗ trợ nhiều loại chỉ mục:</a:t>
            </a:r>
          </a:p>
          <a:p>
            <a:pPr algn="ctr">
              <a:lnSpc>
                <a:spcPts val="3079"/>
              </a:lnSpc>
              <a:spcBef>
                <a:spcPct val="0"/>
              </a:spcBef>
            </a:pPr>
            <a:r>
              <a:rPr lang="en-US" sz="2199">
                <a:solidFill>
                  <a:srgbClr val="000000"/>
                </a:solidFill>
                <a:latin typeface="Public Sans"/>
                <a:ea typeface="Public Sans"/>
                <a:cs typeface="Public Sans"/>
                <a:sym typeface="Public Sans"/>
              </a:rPr>
              <a:t>-IndexFlatL2: Tìm kiếm dựa trên khoảng cách Euclidean.</a:t>
            </a:r>
          </a:p>
          <a:p>
            <a:pPr algn="ctr">
              <a:lnSpc>
                <a:spcPts val="3079"/>
              </a:lnSpc>
              <a:spcBef>
                <a:spcPct val="0"/>
              </a:spcBef>
            </a:pPr>
            <a:r>
              <a:rPr lang="en-US" sz="2199">
                <a:solidFill>
                  <a:srgbClr val="000000"/>
                </a:solidFill>
                <a:latin typeface="Public Sans"/>
                <a:ea typeface="Public Sans"/>
                <a:cs typeface="Public Sans"/>
                <a:sym typeface="Public Sans"/>
              </a:rPr>
              <a:t>-IndexFlatIP: Tìm kiếm dựa trên cosine similarity hoặc tích vô hướng (inner product).</a:t>
            </a:r>
          </a:p>
          <a:p>
            <a:pPr algn="ctr">
              <a:lnSpc>
                <a:spcPts val="3079"/>
              </a:lnSpc>
              <a:spcBef>
                <a:spcPct val="0"/>
              </a:spcBef>
            </a:pPr>
            <a:r>
              <a:rPr lang="en-US" sz="2199">
                <a:solidFill>
                  <a:srgbClr val="000000"/>
                </a:solidFill>
                <a:latin typeface="Public Sans"/>
                <a:ea typeface="Public Sans"/>
                <a:cs typeface="Public Sans"/>
                <a:sym typeface="Public Sans"/>
              </a:rPr>
              <a:t>-IVF (Inverted File Index): Tăng tốc độ tìm kiếm bằng cách chia dữ liệu thành nhiều cụm nhỏ.</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4000500" y="-4000500"/>
            <a:ext cx="10287000" cy="18288000"/>
          </a:xfrm>
          <a:custGeom>
            <a:avLst/>
            <a:gdLst/>
            <a:ahLst/>
            <a:cxnLst/>
            <a:rect l="l" t="t" r="r" b="b"/>
            <a:pathLst>
              <a:path w="10287000" h="18288000">
                <a:moveTo>
                  <a:pt x="10287000" y="0"/>
                </a:moveTo>
                <a:lnTo>
                  <a:pt x="10287000" y="18288000"/>
                </a:lnTo>
                <a:lnTo>
                  <a:pt x="0" y="18288000"/>
                </a:lnTo>
                <a:lnTo>
                  <a:pt x="0" y="0"/>
                </a:lnTo>
                <a:lnTo>
                  <a:pt x="10287000" y="0"/>
                </a:lnTo>
                <a:close/>
              </a:path>
            </a:pathLst>
          </a:custGeom>
          <a:blipFill>
            <a:blip r:embed="rId2"/>
            <a:stretch>
              <a:fillRect l="-81105" t="-2987" r="-64918" b="-3390"/>
            </a:stretch>
          </a:blipFill>
        </p:spPr>
        <p:txBody>
          <a:bodyPr/>
          <a:lstStyle/>
          <a:p>
            <a:endParaRPr lang="en-US"/>
          </a:p>
        </p:txBody>
      </p:sp>
      <p:sp>
        <p:nvSpPr>
          <p:cNvPr id="3" name="Freeform 3"/>
          <p:cNvSpPr/>
          <p:nvPr/>
        </p:nvSpPr>
        <p:spPr>
          <a:xfrm>
            <a:off x="1028700" y="3057059"/>
            <a:ext cx="3384130" cy="1903573"/>
          </a:xfrm>
          <a:custGeom>
            <a:avLst/>
            <a:gdLst/>
            <a:ahLst/>
            <a:cxnLst/>
            <a:rect l="l" t="t" r="r" b="b"/>
            <a:pathLst>
              <a:path w="3384130" h="1903573">
                <a:moveTo>
                  <a:pt x="0" y="0"/>
                </a:moveTo>
                <a:lnTo>
                  <a:pt x="3384130" y="0"/>
                </a:lnTo>
                <a:lnTo>
                  <a:pt x="3384130" y="1903573"/>
                </a:lnTo>
                <a:lnTo>
                  <a:pt x="0" y="1903573"/>
                </a:lnTo>
                <a:lnTo>
                  <a:pt x="0" y="0"/>
                </a:lnTo>
                <a:close/>
              </a:path>
            </a:pathLst>
          </a:custGeom>
          <a:blipFill>
            <a:blip r:embed="rId3"/>
            <a:stretch>
              <a:fillRect/>
            </a:stretch>
          </a:blipFill>
        </p:spPr>
        <p:txBody>
          <a:bodyPr/>
          <a:lstStyle/>
          <a:p>
            <a:endParaRPr lang="en-US"/>
          </a:p>
        </p:txBody>
      </p:sp>
      <p:sp>
        <p:nvSpPr>
          <p:cNvPr id="4" name="Freeform 4"/>
          <p:cNvSpPr/>
          <p:nvPr/>
        </p:nvSpPr>
        <p:spPr>
          <a:xfrm>
            <a:off x="5193399" y="2487688"/>
            <a:ext cx="2655812" cy="2655812"/>
          </a:xfrm>
          <a:custGeom>
            <a:avLst/>
            <a:gdLst/>
            <a:ahLst/>
            <a:cxnLst/>
            <a:rect l="l" t="t" r="r" b="b"/>
            <a:pathLst>
              <a:path w="2655812" h="2655812">
                <a:moveTo>
                  <a:pt x="0" y="0"/>
                </a:moveTo>
                <a:lnTo>
                  <a:pt x="2655812" y="0"/>
                </a:lnTo>
                <a:lnTo>
                  <a:pt x="2655812" y="2655812"/>
                </a:lnTo>
                <a:lnTo>
                  <a:pt x="0" y="2655812"/>
                </a:lnTo>
                <a:lnTo>
                  <a:pt x="0" y="0"/>
                </a:lnTo>
                <a:close/>
              </a:path>
            </a:pathLst>
          </a:custGeom>
          <a:blipFill>
            <a:blip r:embed="rId4"/>
            <a:stretch>
              <a:fillRect/>
            </a:stretch>
          </a:blipFill>
        </p:spPr>
        <p:txBody>
          <a:bodyPr/>
          <a:lstStyle/>
          <a:p>
            <a:endParaRPr lang="en-US"/>
          </a:p>
        </p:txBody>
      </p:sp>
      <p:sp>
        <p:nvSpPr>
          <p:cNvPr id="5" name="Freeform 5"/>
          <p:cNvSpPr/>
          <p:nvPr/>
        </p:nvSpPr>
        <p:spPr>
          <a:xfrm>
            <a:off x="8202847" y="2487688"/>
            <a:ext cx="1882307" cy="2655812"/>
          </a:xfrm>
          <a:custGeom>
            <a:avLst/>
            <a:gdLst/>
            <a:ahLst/>
            <a:cxnLst/>
            <a:rect l="l" t="t" r="r" b="b"/>
            <a:pathLst>
              <a:path w="1882307" h="2655812">
                <a:moveTo>
                  <a:pt x="0" y="0"/>
                </a:moveTo>
                <a:lnTo>
                  <a:pt x="1882306" y="0"/>
                </a:lnTo>
                <a:lnTo>
                  <a:pt x="1882306" y="2655812"/>
                </a:lnTo>
                <a:lnTo>
                  <a:pt x="0" y="2655812"/>
                </a:lnTo>
                <a:lnTo>
                  <a:pt x="0" y="0"/>
                </a:lnTo>
                <a:close/>
              </a:path>
            </a:pathLst>
          </a:custGeom>
          <a:blipFill>
            <a:blip r:embed="rId5"/>
            <a:stretch>
              <a:fillRect/>
            </a:stretch>
          </a:blipFill>
        </p:spPr>
        <p:txBody>
          <a:bodyPr/>
          <a:lstStyle/>
          <a:p>
            <a:endParaRPr lang="en-US"/>
          </a:p>
        </p:txBody>
      </p:sp>
      <p:sp>
        <p:nvSpPr>
          <p:cNvPr id="6" name="Freeform 6"/>
          <p:cNvSpPr/>
          <p:nvPr/>
        </p:nvSpPr>
        <p:spPr>
          <a:xfrm>
            <a:off x="1355187" y="5676900"/>
            <a:ext cx="8224444" cy="3927172"/>
          </a:xfrm>
          <a:custGeom>
            <a:avLst/>
            <a:gdLst/>
            <a:ahLst/>
            <a:cxnLst/>
            <a:rect l="l" t="t" r="r" b="b"/>
            <a:pathLst>
              <a:path w="8224444" h="3927172">
                <a:moveTo>
                  <a:pt x="0" y="0"/>
                </a:moveTo>
                <a:lnTo>
                  <a:pt x="8224444" y="0"/>
                </a:lnTo>
                <a:lnTo>
                  <a:pt x="8224444" y="3927172"/>
                </a:lnTo>
                <a:lnTo>
                  <a:pt x="0" y="3927172"/>
                </a:lnTo>
                <a:lnTo>
                  <a:pt x="0" y="0"/>
                </a:lnTo>
                <a:close/>
              </a:path>
            </a:pathLst>
          </a:custGeom>
          <a:blipFill>
            <a:blip r:embed="rId6"/>
            <a:stretch>
              <a:fillRect/>
            </a:stretch>
          </a:blipFill>
        </p:spPr>
        <p:txBody>
          <a:bodyPr/>
          <a:lstStyle/>
          <a:p>
            <a:endParaRPr lang="en-US"/>
          </a:p>
        </p:txBody>
      </p:sp>
      <p:sp>
        <p:nvSpPr>
          <p:cNvPr id="7" name="Freeform 7"/>
          <p:cNvSpPr/>
          <p:nvPr/>
        </p:nvSpPr>
        <p:spPr>
          <a:xfrm>
            <a:off x="10383072" y="5676900"/>
            <a:ext cx="7108004" cy="3927172"/>
          </a:xfrm>
          <a:custGeom>
            <a:avLst/>
            <a:gdLst/>
            <a:ahLst/>
            <a:cxnLst/>
            <a:rect l="l" t="t" r="r" b="b"/>
            <a:pathLst>
              <a:path w="7108004" h="3927172">
                <a:moveTo>
                  <a:pt x="0" y="0"/>
                </a:moveTo>
                <a:lnTo>
                  <a:pt x="7108004" y="0"/>
                </a:lnTo>
                <a:lnTo>
                  <a:pt x="7108004" y="3927172"/>
                </a:lnTo>
                <a:lnTo>
                  <a:pt x="0" y="3927172"/>
                </a:lnTo>
                <a:lnTo>
                  <a:pt x="0" y="0"/>
                </a:lnTo>
                <a:close/>
              </a:path>
            </a:pathLst>
          </a:custGeom>
          <a:blipFill>
            <a:blip r:embed="rId7"/>
            <a:stretch>
              <a:fillRect/>
            </a:stretch>
          </a:blipFill>
        </p:spPr>
        <p:txBody>
          <a:bodyPr/>
          <a:lstStyle/>
          <a:p>
            <a:endParaRPr lang="en-US"/>
          </a:p>
        </p:txBody>
      </p:sp>
      <p:sp>
        <p:nvSpPr>
          <p:cNvPr id="8" name="TextBox 8"/>
          <p:cNvSpPr txBox="1"/>
          <p:nvPr/>
        </p:nvSpPr>
        <p:spPr>
          <a:xfrm>
            <a:off x="1196101" y="809248"/>
            <a:ext cx="12202622" cy="1141207"/>
          </a:xfrm>
          <a:prstGeom prst="rect">
            <a:avLst/>
          </a:prstGeom>
        </p:spPr>
        <p:txBody>
          <a:bodyPr lIns="0" tIns="0" rIns="0" bIns="0" rtlCol="0" anchor="t">
            <a:spAutoFit/>
          </a:bodyPr>
          <a:lstStyle/>
          <a:p>
            <a:pPr algn="l">
              <a:lnSpc>
                <a:spcPts val="8480"/>
              </a:lnSpc>
            </a:pPr>
            <a:r>
              <a:rPr lang="en-US" sz="8742" b="1">
                <a:solidFill>
                  <a:srgbClr val="000000"/>
                </a:solidFill>
                <a:latin typeface="Public Sans Bold"/>
                <a:ea typeface="Public Sans Bold"/>
                <a:cs typeface="Public Sans Bold"/>
                <a:sym typeface="Public Sans Bold"/>
              </a:rPr>
              <a:t>Frontend &amp; Backend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4000500" y="-4000500"/>
            <a:ext cx="10287000" cy="18288000"/>
          </a:xfrm>
          <a:custGeom>
            <a:avLst/>
            <a:gdLst/>
            <a:ahLst/>
            <a:cxnLst/>
            <a:rect l="l" t="t" r="r" b="b"/>
            <a:pathLst>
              <a:path w="10287000" h="18288000">
                <a:moveTo>
                  <a:pt x="10287000" y="0"/>
                </a:moveTo>
                <a:lnTo>
                  <a:pt x="10287000" y="18288000"/>
                </a:lnTo>
                <a:lnTo>
                  <a:pt x="0" y="18288000"/>
                </a:lnTo>
                <a:lnTo>
                  <a:pt x="0" y="0"/>
                </a:lnTo>
                <a:lnTo>
                  <a:pt x="10287000" y="0"/>
                </a:lnTo>
                <a:close/>
              </a:path>
            </a:pathLst>
          </a:custGeom>
          <a:blipFill>
            <a:blip r:embed="rId2"/>
            <a:stretch>
              <a:fillRect l="-71867" t="-3631" r="-74156" b="-2747"/>
            </a:stretch>
          </a:blipFill>
        </p:spPr>
        <p:txBody>
          <a:bodyPr/>
          <a:lstStyle/>
          <a:p>
            <a:endParaRPr lang="en-US"/>
          </a:p>
        </p:txBody>
      </p:sp>
      <p:sp>
        <p:nvSpPr>
          <p:cNvPr id="3" name="Freeform 3"/>
          <p:cNvSpPr/>
          <p:nvPr/>
        </p:nvSpPr>
        <p:spPr>
          <a:xfrm>
            <a:off x="-2329398" y="8614893"/>
            <a:ext cx="4899948" cy="3344214"/>
          </a:xfrm>
          <a:custGeom>
            <a:avLst/>
            <a:gdLst/>
            <a:ahLst/>
            <a:cxnLst/>
            <a:rect l="l" t="t" r="r" b="b"/>
            <a:pathLst>
              <a:path w="4899948" h="3344214">
                <a:moveTo>
                  <a:pt x="0" y="0"/>
                </a:moveTo>
                <a:lnTo>
                  <a:pt x="4899947" y="0"/>
                </a:lnTo>
                <a:lnTo>
                  <a:pt x="4899947" y="3344214"/>
                </a:lnTo>
                <a:lnTo>
                  <a:pt x="0" y="334421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4" name="Freeform 4"/>
          <p:cNvSpPr/>
          <p:nvPr/>
        </p:nvSpPr>
        <p:spPr>
          <a:xfrm>
            <a:off x="6030709" y="9258300"/>
            <a:ext cx="3059829" cy="751049"/>
          </a:xfrm>
          <a:custGeom>
            <a:avLst/>
            <a:gdLst/>
            <a:ahLst/>
            <a:cxnLst/>
            <a:rect l="l" t="t" r="r" b="b"/>
            <a:pathLst>
              <a:path w="3059829" h="751049">
                <a:moveTo>
                  <a:pt x="0" y="0"/>
                </a:moveTo>
                <a:lnTo>
                  <a:pt x="3059829" y="0"/>
                </a:lnTo>
                <a:lnTo>
                  <a:pt x="3059829" y="751049"/>
                </a:lnTo>
                <a:lnTo>
                  <a:pt x="0" y="75104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5" name="Freeform 5"/>
          <p:cNvSpPr/>
          <p:nvPr/>
        </p:nvSpPr>
        <p:spPr>
          <a:xfrm>
            <a:off x="14215205" y="8540136"/>
            <a:ext cx="4602314" cy="3618569"/>
          </a:xfrm>
          <a:custGeom>
            <a:avLst/>
            <a:gdLst/>
            <a:ahLst/>
            <a:cxnLst/>
            <a:rect l="l" t="t" r="r" b="b"/>
            <a:pathLst>
              <a:path w="4602314" h="3618569">
                <a:moveTo>
                  <a:pt x="0" y="0"/>
                </a:moveTo>
                <a:lnTo>
                  <a:pt x="4602314" y="0"/>
                </a:lnTo>
                <a:lnTo>
                  <a:pt x="4602314" y="3618570"/>
                </a:lnTo>
                <a:lnTo>
                  <a:pt x="0" y="3618570"/>
                </a:lnTo>
                <a:lnTo>
                  <a:pt x="0" y="0"/>
                </a:lnTo>
                <a:close/>
              </a:path>
            </a:pathLst>
          </a:custGeom>
          <a:blipFill>
            <a:blip r:embed="rId7">
              <a:extLst>
                <a:ext uri="{96DAC541-7B7A-43D3-8B79-37D633B846F1}">
                  <asvg:svgBlip xmlns:asvg="http://schemas.microsoft.com/office/drawing/2016/SVG/main" r:embed="rId8"/>
                </a:ext>
              </a:extLst>
            </a:blip>
            <a:stretch>
              <a:fillRect/>
            </a:stretch>
          </a:blipFill>
          <a:ln cap="sq">
            <a:noFill/>
            <a:prstDash val="solid"/>
            <a:miter/>
          </a:ln>
        </p:spPr>
        <p:txBody>
          <a:bodyPr/>
          <a:lstStyle/>
          <a:p>
            <a:endParaRPr lang="en-US"/>
          </a:p>
        </p:txBody>
      </p:sp>
      <p:sp>
        <p:nvSpPr>
          <p:cNvPr id="6" name="Freeform 6"/>
          <p:cNvSpPr/>
          <p:nvPr/>
        </p:nvSpPr>
        <p:spPr>
          <a:xfrm>
            <a:off x="-674156" y="-1072630"/>
            <a:ext cx="4899948" cy="3068592"/>
          </a:xfrm>
          <a:custGeom>
            <a:avLst/>
            <a:gdLst/>
            <a:ahLst/>
            <a:cxnLst/>
            <a:rect l="l" t="t" r="r" b="b"/>
            <a:pathLst>
              <a:path w="4899948" h="3068592">
                <a:moveTo>
                  <a:pt x="0" y="0"/>
                </a:moveTo>
                <a:lnTo>
                  <a:pt x="4899948" y="0"/>
                </a:lnTo>
                <a:lnTo>
                  <a:pt x="4899948" y="3068592"/>
                </a:lnTo>
                <a:lnTo>
                  <a:pt x="0" y="3068592"/>
                </a:lnTo>
                <a:lnTo>
                  <a:pt x="0" y="0"/>
                </a:lnTo>
                <a:close/>
              </a:path>
            </a:pathLst>
          </a:custGeom>
          <a:blipFill>
            <a:blip r:embed="rId9">
              <a:extLst>
                <a:ext uri="{96DAC541-7B7A-43D3-8B79-37D633B846F1}">
                  <asvg:svgBlip xmlns:asvg="http://schemas.microsoft.com/office/drawing/2016/SVG/main" r:embed="rId10"/>
                </a:ext>
              </a:extLst>
            </a:blip>
            <a:stretch>
              <a:fillRect/>
            </a:stretch>
          </a:blipFill>
          <a:ln cap="sq">
            <a:noFill/>
            <a:prstDash val="solid"/>
            <a:miter/>
          </a:ln>
        </p:spPr>
        <p:txBody>
          <a:bodyPr/>
          <a:lstStyle/>
          <a:p>
            <a:endParaRPr lang="en-US"/>
          </a:p>
        </p:txBody>
      </p:sp>
      <p:sp>
        <p:nvSpPr>
          <p:cNvPr id="7" name="Freeform 7"/>
          <p:cNvSpPr/>
          <p:nvPr/>
        </p:nvSpPr>
        <p:spPr>
          <a:xfrm>
            <a:off x="12686214" y="-2578193"/>
            <a:ext cx="4292424" cy="3870986"/>
          </a:xfrm>
          <a:custGeom>
            <a:avLst/>
            <a:gdLst/>
            <a:ahLst/>
            <a:cxnLst/>
            <a:rect l="l" t="t" r="r" b="b"/>
            <a:pathLst>
              <a:path w="4292424" h="3870986">
                <a:moveTo>
                  <a:pt x="0" y="0"/>
                </a:moveTo>
                <a:lnTo>
                  <a:pt x="4292424" y="0"/>
                </a:lnTo>
                <a:lnTo>
                  <a:pt x="4292424" y="3870986"/>
                </a:lnTo>
                <a:lnTo>
                  <a:pt x="0" y="3870986"/>
                </a:lnTo>
                <a:lnTo>
                  <a:pt x="0" y="0"/>
                </a:lnTo>
                <a:close/>
              </a:path>
            </a:pathLst>
          </a:custGeom>
          <a:blipFill>
            <a:blip r:embed="rId11">
              <a:extLst>
                <a:ext uri="{96DAC541-7B7A-43D3-8B79-37D633B846F1}">
                  <asvg:svgBlip xmlns:asvg="http://schemas.microsoft.com/office/drawing/2016/SVG/main" r:embed="rId12"/>
                </a:ext>
              </a:extLst>
            </a:blip>
            <a:stretch>
              <a:fillRect/>
            </a:stretch>
          </a:blipFill>
          <a:ln cap="sq">
            <a:noFill/>
            <a:prstDash val="solid"/>
            <a:miter/>
          </a:ln>
        </p:spPr>
        <p:txBody>
          <a:bodyPr/>
          <a:lstStyle/>
          <a:p>
            <a:endParaRPr lang="en-US"/>
          </a:p>
        </p:txBody>
      </p:sp>
      <p:sp>
        <p:nvSpPr>
          <p:cNvPr id="8" name="Freeform 8"/>
          <p:cNvSpPr/>
          <p:nvPr/>
        </p:nvSpPr>
        <p:spPr>
          <a:xfrm>
            <a:off x="10138935" y="9258300"/>
            <a:ext cx="4076270" cy="2863579"/>
          </a:xfrm>
          <a:custGeom>
            <a:avLst/>
            <a:gdLst/>
            <a:ahLst/>
            <a:cxnLst/>
            <a:rect l="l" t="t" r="r" b="b"/>
            <a:pathLst>
              <a:path w="4076270" h="2863579">
                <a:moveTo>
                  <a:pt x="0" y="0"/>
                </a:moveTo>
                <a:lnTo>
                  <a:pt x="4076270" y="0"/>
                </a:lnTo>
                <a:lnTo>
                  <a:pt x="4076270" y="2863579"/>
                </a:lnTo>
                <a:lnTo>
                  <a:pt x="0" y="2863579"/>
                </a:lnTo>
                <a:lnTo>
                  <a:pt x="0" y="0"/>
                </a:lnTo>
                <a:close/>
              </a:path>
            </a:pathLst>
          </a:custGeom>
          <a:blipFill>
            <a:blip r:embed="rId13">
              <a:extLst>
                <a:ext uri="{96DAC541-7B7A-43D3-8B79-37D633B846F1}">
                  <asvg:svgBlip xmlns:asvg="http://schemas.microsoft.com/office/drawing/2016/SVG/main" r:embed="rId14"/>
                </a:ext>
              </a:extLst>
            </a:blip>
            <a:stretch>
              <a:fillRect/>
            </a:stretch>
          </a:blipFill>
          <a:ln cap="sq">
            <a:noFill/>
            <a:prstDash val="solid"/>
            <a:miter/>
          </a:ln>
        </p:spPr>
        <p:txBody>
          <a:bodyPr/>
          <a:lstStyle/>
          <a:p>
            <a:endParaRPr lang="en-US"/>
          </a:p>
        </p:txBody>
      </p:sp>
      <p:sp>
        <p:nvSpPr>
          <p:cNvPr id="9" name="Freeform 9"/>
          <p:cNvSpPr/>
          <p:nvPr/>
        </p:nvSpPr>
        <p:spPr>
          <a:xfrm>
            <a:off x="7409323" y="-2700100"/>
            <a:ext cx="5493058" cy="4114800"/>
          </a:xfrm>
          <a:custGeom>
            <a:avLst/>
            <a:gdLst/>
            <a:ahLst/>
            <a:cxnLst/>
            <a:rect l="l" t="t" r="r" b="b"/>
            <a:pathLst>
              <a:path w="5493058" h="4114800">
                <a:moveTo>
                  <a:pt x="0" y="0"/>
                </a:moveTo>
                <a:lnTo>
                  <a:pt x="5493058" y="0"/>
                </a:lnTo>
                <a:lnTo>
                  <a:pt x="5493058" y="4114800"/>
                </a:lnTo>
                <a:lnTo>
                  <a:pt x="0" y="4114800"/>
                </a:lnTo>
                <a:lnTo>
                  <a:pt x="0" y="0"/>
                </a:lnTo>
                <a:close/>
              </a:path>
            </a:pathLst>
          </a:custGeom>
          <a:blipFill>
            <a:blip r:embed="rId15">
              <a:extLst>
                <a:ext uri="{96DAC541-7B7A-43D3-8B79-37D633B846F1}">
                  <asvg:svgBlip xmlns:asvg="http://schemas.microsoft.com/office/drawing/2016/SVG/main" r:embed="rId16"/>
                </a:ext>
              </a:extLst>
            </a:blip>
            <a:stretch>
              <a:fillRect/>
            </a:stretch>
          </a:blipFill>
          <a:ln cap="sq">
            <a:noFill/>
            <a:prstDash val="solid"/>
            <a:miter/>
          </a:ln>
        </p:spPr>
        <p:txBody>
          <a:bodyPr/>
          <a:lstStyle/>
          <a:p>
            <a:endParaRPr lang="en-US"/>
          </a:p>
        </p:txBody>
      </p:sp>
      <p:sp>
        <p:nvSpPr>
          <p:cNvPr id="10" name="Freeform 10"/>
          <p:cNvSpPr/>
          <p:nvPr/>
        </p:nvSpPr>
        <p:spPr>
          <a:xfrm rot="4747568">
            <a:off x="-2972342" y="3665317"/>
            <a:ext cx="4896097" cy="2735694"/>
          </a:xfrm>
          <a:custGeom>
            <a:avLst/>
            <a:gdLst/>
            <a:ahLst/>
            <a:cxnLst/>
            <a:rect l="l" t="t" r="r" b="b"/>
            <a:pathLst>
              <a:path w="4896097" h="2735694">
                <a:moveTo>
                  <a:pt x="0" y="0"/>
                </a:moveTo>
                <a:lnTo>
                  <a:pt x="4896097" y="0"/>
                </a:lnTo>
                <a:lnTo>
                  <a:pt x="4896097" y="2735694"/>
                </a:lnTo>
                <a:lnTo>
                  <a:pt x="0" y="2735694"/>
                </a:lnTo>
                <a:lnTo>
                  <a:pt x="0" y="0"/>
                </a:lnTo>
                <a:close/>
              </a:path>
            </a:pathLst>
          </a:custGeom>
          <a:blipFill>
            <a:blip r:embed="rId17">
              <a:extLst>
                <a:ext uri="{96DAC541-7B7A-43D3-8B79-37D633B846F1}">
                  <asvg:svgBlip xmlns:asvg="http://schemas.microsoft.com/office/drawing/2016/SVG/main" r:embed="rId18"/>
                </a:ext>
              </a:extLst>
            </a:blip>
            <a:stretch>
              <a:fillRect/>
            </a:stretch>
          </a:blipFill>
          <a:ln cap="sq">
            <a:noFill/>
            <a:prstDash val="solid"/>
            <a:miter/>
          </a:ln>
        </p:spPr>
        <p:txBody>
          <a:bodyPr/>
          <a:lstStyle/>
          <a:p>
            <a:endParaRPr lang="en-US"/>
          </a:p>
        </p:txBody>
      </p:sp>
      <p:sp>
        <p:nvSpPr>
          <p:cNvPr id="11" name="Freeform 11"/>
          <p:cNvSpPr/>
          <p:nvPr/>
        </p:nvSpPr>
        <p:spPr>
          <a:xfrm>
            <a:off x="4831481" y="-1626507"/>
            <a:ext cx="2892762" cy="2919301"/>
          </a:xfrm>
          <a:custGeom>
            <a:avLst/>
            <a:gdLst/>
            <a:ahLst/>
            <a:cxnLst/>
            <a:rect l="l" t="t" r="r" b="b"/>
            <a:pathLst>
              <a:path w="2892762" h="2919301">
                <a:moveTo>
                  <a:pt x="0" y="0"/>
                </a:moveTo>
                <a:lnTo>
                  <a:pt x="2892761" y="0"/>
                </a:lnTo>
                <a:lnTo>
                  <a:pt x="2892761" y="2919300"/>
                </a:lnTo>
                <a:lnTo>
                  <a:pt x="0" y="2919300"/>
                </a:lnTo>
                <a:lnTo>
                  <a:pt x="0" y="0"/>
                </a:lnTo>
                <a:close/>
              </a:path>
            </a:pathLst>
          </a:custGeom>
          <a:blipFill>
            <a:blip r:embed="rId19">
              <a:extLst>
                <a:ext uri="{96DAC541-7B7A-43D3-8B79-37D633B846F1}">
                  <asvg:svgBlip xmlns:asvg="http://schemas.microsoft.com/office/drawing/2016/SVG/main" r:embed="rId20"/>
                </a:ext>
              </a:extLst>
            </a:blip>
            <a:stretch>
              <a:fillRect/>
            </a:stretch>
          </a:blipFill>
          <a:ln cap="sq">
            <a:noFill/>
            <a:prstDash val="solid"/>
            <a:miter/>
          </a:ln>
        </p:spPr>
        <p:txBody>
          <a:bodyPr/>
          <a:lstStyle/>
          <a:p>
            <a:endParaRPr lang="en-US"/>
          </a:p>
        </p:txBody>
      </p:sp>
      <p:sp>
        <p:nvSpPr>
          <p:cNvPr id="12" name="Freeform 12"/>
          <p:cNvSpPr/>
          <p:nvPr/>
        </p:nvSpPr>
        <p:spPr>
          <a:xfrm>
            <a:off x="17259300" y="2262342"/>
            <a:ext cx="3575541" cy="3575541"/>
          </a:xfrm>
          <a:custGeom>
            <a:avLst/>
            <a:gdLst/>
            <a:ahLst/>
            <a:cxnLst/>
            <a:rect l="l" t="t" r="r" b="b"/>
            <a:pathLst>
              <a:path w="3575541" h="3575541">
                <a:moveTo>
                  <a:pt x="0" y="0"/>
                </a:moveTo>
                <a:lnTo>
                  <a:pt x="3575541" y="0"/>
                </a:lnTo>
                <a:lnTo>
                  <a:pt x="3575541" y="3575541"/>
                </a:lnTo>
                <a:lnTo>
                  <a:pt x="0" y="3575541"/>
                </a:lnTo>
                <a:lnTo>
                  <a:pt x="0" y="0"/>
                </a:lnTo>
                <a:close/>
              </a:path>
            </a:pathLst>
          </a:custGeom>
          <a:blipFill>
            <a:blip r:embed="rId21">
              <a:extLst>
                <a:ext uri="{96DAC541-7B7A-43D3-8B79-37D633B846F1}">
                  <asvg:svgBlip xmlns:asvg="http://schemas.microsoft.com/office/drawing/2016/SVG/main" r:embed="rId22"/>
                </a:ext>
              </a:extLst>
            </a:blip>
            <a:stretch>
              <a:fillRect/>
            </a:stretch>
          </a:blipFill>
          <a:ln cap="sq">
            <a:noFill/>
            <a:prstDash val="solid"/>
            <a:miter/>
          </a:ln>
        </p:spPr>
        <p:txBody>
          <a:bodyPr/>
          <a:lstStyle/>
          <a:p>
            <a:endParaRPr lang="en-US"/>
          </a:p>
        </p:txBody>
      </p:sp>
      <p:sp>
        <p:nvSpPr>
          <p:cNvPr id="13" name="Freeform 13"/>
          <p:cNvSpPr/>
          <p:nvPr/>
        </p:nvSpPr>
        <p:spPr>
          <a:xfrm>
            <a:off x="2570549" y="9093737"/>
            <a:ext cx="2587020" cy="2386526"/>
          </a:xfrm>
          <a:custGeom>
            <a:avLst/>
            <a:gdLst/>
            <a:ahLst/>
            <a:cxnLst/>
            <a:rect l="l" t="t" r="r" b="b"/>
            <a:pathLst>
              <a:path w="2587020" h="2386526">
                <a:moveTo>
                  <a:pt x="0" y="0"/>
                </a:moveTo>
                <a:lnTo>
                  <a:pt x="2587020" y="0"/>
                </a:lnTo>
                <a:lnTo>
                  <a:pt x="2587020" y="2386526"/>
                </a:lnTo>
                <a:lnTo>
                  <a:pt x="0" y="2386526"/>
                </a:lnTo>
                <a:lnTo>
                  <a:pt x="0" y="0"/>
                </a:lnTo>
                <a:close/>
              </a:path>
            </a:pathLst>
          </a:custGeom>
          <a:blipFill>
            <a:blip r:embed="rId23">
              <a:extLst>
                <a:ext uri="{96DAC541-7B7A-43D3-8B79-37D633B846F1}">
                  <asvg:svgBlip xmlns:asvg="http://schemas.microsoft.com/office/drawing/2016/SVG/main" r:embed="rId24"/>
                </a:ext>
              </a:extLst>
            </a:blip>
            <a:stretch>
              <a:fillRect/>
            </a:stretch>
          </a:blipFill>
          <a:ln cap="sq">
            <a:noFill/>
            <a:prstDash val="solid"/>
            <a:miter/>
          </a:ln>
        </p:spPr>
        <p:txBody>
          <a:bodyPr/>
          <a:lstStyle/>
          <a:p>
            <a:endParaRPr lang="en-US"/>
          </a:p>
        </p:txBody>
      </p:sp>
      <p:sp>
        <p:nvSpPr>
          <p:cNvPr id="14" name="Freeform 14"/>
          <p:cNvSpPr/>
          <p:nvPr/>
        </p:nvSpPr>
        <p:spPr>
          <a:xfrm rot="-5282649">
            <a:off x="16440369" y="6970869"/>
            <a:ext cx="3382987" cy="1154444"/>
          </a:xfrm>
          <a:custGeom>
            <a:avLst/>
            <a:gdLst/>
            <a:ahLst/>
            <a:cxnLst/>
            <a:rect l="l" t="t" r="r" b="b"/>
            <a:pathLst>
              <a:path w="3382987" h="1154444">
                <a:moveTo>
                  <a:pt x="0" y="0"/>
                </a:moveTo>
                <a:lnTo>
                  <a:pt x="3382987" y="0"/>
                </a:lnTo>
                <a:lnTo>
                  <a:pt x="3382987" y="1154445"/>
                </a:lnTo>
                <a:lnTo>
                  <a:pt x="0" y="1154445"/>
                </a:lnTo>
                <a:lnTo>
                  <a:pt x="0" y="0"/>
                </a:lnTo>
                <a:close/>
              </a:path>
            </a:pathLst>
          </a:custGeom>
          <a:blipFill>
            <a:blip r:embed="rId25">
              <a:extLst>
                <a:ext uri="{96DAC541-7B7A-43D3-8B79-37D633B846F1}">
                  <asvg:svgBlip xmlns:asvg="http://schemas.microsoft.com/office/drawing/2016/SVG/main" r:embed="rId26"/>
                </a:ext>
              </a:extLst>
            </a:blip>
            <a:stretch>
              <a:fillRect/>
            </a:stretch>
          </a:blipFill>
          <a:ln cap="sq">
            <a:noFill/>
            <a:prstDash val="solid"/>
            <a:miter/>
          </a:ln>
        </p:spPr>
        <p:txBody>
          <a:bodyPr/>
          <a:lstStyle/>
          <a:p>
            <a:endParaRPr lang="en-US"/>
          </a:p>
        </p:txBody>
      </p:sp>
      <p:sp>
        <p:nvSpPr>
          <p:cNvPr id="15" name="Freeform 15"/>
          <p:cNvSpPr/>
          <p:nvPr/>
        </p:nvSpPr>
        <p:spPr>
          <a:xfrm>
            <a:off x="16978638" y="-642644"/>
            <a:ext cx="3104522" cy="3342688"/>
          </a:xfrm>
          <a:custGeom>
            <a:avLst/>
            <a:gdLst/>
            <a:ahLst/>
            <a:cxnLst/>
            <a:rect l="l" t="t" r="r" b="b"/>
            <a:pathLst>
              <a:path w="3104522" h="3342688">
                <a:moveTo>
                  <a:pt x="0" y="0"/>
                </a:moveTo>
                <a:lnTo>
                  <a:pt x="3104522" y="0"/>
                </a:lnTo>
                <a:lnTo>
                  <a:pt x="3104522" y="3342688"/>
                </a:lnTo>
                <a:lnTo>
                  <a:pt x="0" y="3342688"/>
                </a:lnTo>
                <a:lnTo>
                  <a:pt x="0" y="0"/>
                </a:lnTo>
                <a:close/>
              </a:path>
            </a:pathLst>
          </a:custGeom>
          <a:blipFill>
            <a:blip r:embed="rId27">
              <a:extLst>
                <a:ext uri="{96DAC541-7B7A-43D3-8B79-37D633B846F1}">
                  <asvg:svgBlip xmlns:asvg="http://schemas.microsoft.com/office/drawing/2016/SVG/main" r:embed="rId28"/>
                </a:ext>
              </a:extLst>
            </a:blip>
            <a:stretch>
              <a:fillRect/>
            </a:stretch>
          </a:blipFill>
          <a:ln cap="sq">
            <a:noFill/>
            <a:prstDash val="solid"/>
            <a:miter/>
          </a:ln>
        </p:spPr>
        <p:txBody>
          <a:bodyPr/>
          <a:lstStyle/>
          <a:p>
            <a:endParaRPr lang="en-US"/>
          </a:p>
        </p:txBody>
      </p:sp>
      <p:sp>
        <p:nvSpPr>
          <p:cNvPr id="16" name="TextBox 16"/>
          <p:cNvSpPr txBox="1"/>
          <p:nvPr/>
        </p:nvSpPr>
        <p:spPr>
          <a:xfrm>
            <a:off x="3688802" y="3824729"/>
            <a:ext cx="10910396" cy="1754786"/>
          </a:xfrm>
          <a:prstGeom prst="rect">
            <a:avLst/>
          </a:prstGeom>
        </p:spPr>
        <p:txBody>
          <a:bodyPr lIns="0" tIns="0" rIns="0" bIns="0" rtlCol="0" anchor="t">
            <a:spAutoFit/>
          </a:bodyPr>
          <a:lstStyle/>
          <a:p>
            <a:pPr algn="ctr">
              <a:lnSpc>
                <a:spcPts val="12699"/>
              </a:lnSpc>
            </a:pPr>
            <a:r>
              <a:rPr lang="en-US" sz="14597" b="1">
                <a:solidFill>
                  <a:srgbClr val="000000"/>
                </a:solidFill>
                <a:latin typeface="DM Sans Bold"/>
                <a:ea typeface="DM Sans Bold"/>
                <a:cs typeface="DM Sans Bold"/>
                <a:sym typeface="DM Sans Bold"/>
              </a:rPr>
              <a:t>DEMO</a:t>
            </a:r>
          </a:p>
        </p:txBody>
      </p:sp>
      <p:sp>
        <p:nvSpPr>
          <p:cNvPr id="17" name="TextBox 17"/>
          <p:cNvSpPr txBox="1"/>
          <p:nvPr/>
        </p:nvSpPr>
        <p:spPr>
          <a:xfrm>
            <a:off x="6030709" y="5522366"/>
            <a:ext cx="6517344" cy="391795"/>
          </a:xfrm>
          <a:prstGeom prst="rect">
            <a:avLst/>
          </a:prstGeom>
        </p:spPr>
        <p:txBody>
          <a:bodyPr lIns="0" tIns="0" rIns="0" bIns="0" rtlCol="0" anchor="t">
            <a:spAutoFit/>
          </a:bodyPr>
          <a:lstStyle/>
          <a:p>
            <a:pPr algn="ctr">
              <a:lnSpc>
                <a:spcPts val="3079"/>
              </a:lnSpc>
              <a:spcBef>
                <a:spcPct val="0"/>
              </a:spcBef>
            </a:pPr>
            <a:r>
              <a:rPr lang="en-US" sz="2199" u="sng">
                <a:solidFill>
                  <a:srgbClr val="000000"/>
                </a:solidFill>
                <a:latin typeface="Public Sans"/>
                <a:ea typeface="Public Sans"/>
                <a:cs typeface="Public Sans"/>
                <a:sym typeface="Public Sans"/>
                <a:hlinkClick r:id="rId29" tooltip="https://github.com/hoanglvuit/retrieve_images"/>
              </a:rPr>
              <a:t>https://github.com/hoanglvuit/retrieve_images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659</Words>
  <Application>Microsoft Office PowerPoint</Application>
  <PresentationFormat>Custom</PresentationFormat>
  <Paragraphs>49</Paragraphs>
  <Slides>11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DM Sans Bold</vt:lpstr>
      <vt:lpstr>Calibri</vt:lpstr>
      <vt:lpstr>Public Sans</vt:lpstr>
      <vt:lpstr>Public Sans Bold</vt:lpstr>
      <vt:lpstr>DM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Doodle Project Presentation</dc:title>
  <cp:lastModifiedBy>Hoang Le</cp:lastModifiedBy>
  <cp:revision>2</cp:revision>
  <dcterms:created xsi:type="dcterms:W3CDTF">2006-08-16T00:00:00Z</dcterms:created>
  <dcterms:modified xsi:type="dcterms:W3CDTF">2025-01-26T10:16:51Z</dcterms:modified>
  <dc:identifier>DAGZtNp8-AM</dc:identifier>
</cp:coreProperties>
</file>